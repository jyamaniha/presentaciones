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5"/>
  </p:notesMasterIdLst>
  <p:sldIdLst>
    <p:sldId id="256" r:id="rId2"/>
    <p:sldId id="257" r:id="rId3"/>
    <p:sldId id="258" r:id="rId4"/>
    <p:sldId id="261" r:id="rId5"/>
    <p:sldId id="259" r:id="rId6"/>
    <p:sldId id="264" r:id="rId7"/>
    <p:sldId id="265" r:id="rId8"/>
    <p:sldId id="294" r:id="rId9"/>
    <p:sldId id="295" r:id="rId10"/>
    <p:sldId id="266" r:id="rId11"/>
    <p:sldId id="279" r:id="rId12"/>
    <p:sldId id="285" r:id="rId13"/>
    <p:sldId id="286" r:id="rId14"/>
    <p:sldId id="284" r:id="rId15"/>
    <p:sldId id="260" r:id="rId16"/>
    <p:sldId id="262" r:id="rId17"/>
    <p:sldId id="289" r:id="rId18"/>
    <p:sldId id="263" r:id="rId19"/>
    <p:sldId id="267" r:id="rId20"/>
    <p:sldId id="268" r:id="rId21"/>
    <p:sldId id="276" r:id="rId22"/>
    <p:sldId id="269" r:id="rId23"/>
    <p:sldId id="270" r:id="rId24"/>
    <p:sldId id="287" r:id="rId25"/>
    <p:sldId id="272" r:id="rId26"/>
    <p:sldId id="271" r:id="rId27"/>
    <p:sldId id="277" r:id="rId28"/>
    <p:sldId id="282" r:id="rId29"/>
    <p:sldId id="288" r:id="rId30"/>
    <p:sldId id="293" r:id="rId31"/>
    <p:sldId id="281" r:id="rId32"/>
    <p:sldId id="274" r:id="rId33"/>
    <p:sldId id="275" r:id="rId34"/>
    <p:sldId id="278" r:id="rId35"/>
    <p:sldId id="283" r:id="rId36"/>
    <p:sldId id="291" r:id="rId37"/>
    <p:sldId id="290" r:id="rId38"/>
    <p:sldId id="280" r:id="rId39"/>
    <p:sldId id="304" r:id="rId40"/>
    <p:sldId id="314" r:id="rId41"/>
    <p:sldId id="312" r:id="rId42"/>
    <p:sldId id="313" r:id="rId43"/>
    <p:sldId id="296" r:id="rId44"/>
    <p:sldId id="303" r:id="rId45"/>
    <p:sldId id="297" r:id="rId46"/>
    <p:sldId id="307" r:id="rId47"/>
    <p:sldId id="305" r:id="rId48"/>
    <p:sldId id="309" r:id="rId49"/>
    <p:sldId id="310" r:id="rId50"/>
    <p:sldId id="306" r:id="rId51"/>
    <p:sldId id="321" r:id="rId52"/>
    <p:sldId id="322" r:id="rId53"/>
    <p:sldId id="299" r:id="rId54"/>
    <p:sldId id="300" r:id="rId55"/>
    <p:sldId id="311" r:id="rId56"/>
    <p:sldId id="320" r:id="rId57"/>
    <p:sldId id="315" r:id="rId58"/>
    <p:sldId id="317" r:id="rId59"/>
    <p:sldId id="316" r:id="rId60"/>
    <p:sldId id="298" r:id="rId61"/>
    <p:sldId id="318" r:id="rId62"/>
    <p:sldId id="319" r:id="rId63"/>
    <p:sldId id="323"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0065" autoAdjust="0"/>
  </p:normalViewPr>
  <p:slideViewPr>
    <p:cSldViewPr snapToGrid="0">
      <p:cViewPr varScale="1">
        <p:scale>
          <a:sx n="91" d="100"/>
          <a:sy n="91" d="100"/>
        </p:scale>
        <p:origin x="129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740F05-4BAE-4F34-8CB7-0BD911159B86}" type="datetimeFigureOut">
              <a:rPr lang="en-US" smtClean="0"/>
              <a:t>6/17/2020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DB2DDD-72EF-4E3E-8A2E-778E7D4C4B51}" type="slidenum">
              <a:rPr lang="en-US" smtClean="0"/>
              <a:t>‹#›</a:t>
            </a:fld>
            <a:endParaRPr lang="en-US"/>
          </a:p>
        </p:txBody>
      </p:sp>
    </p:spTree>
    <p:extLst>
      <p:ext uri="{BB962C8B-B14F-4D97-AF65-F5344CB8AC3E}">
        <p14:creationId xmlns:p14="http://schemas.microsoft.com/office/powerpoint/2010/main" val="1242672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3" Type="http://schemas.openxmlformats.org/officeDocument/2006/relationships/hyperlink" Target="https://www.redhat.com/en/topics/devops/what-is-ci-cd" TargetMode="External"/><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2</a:t>
            </a:fld>
            <a:endParaRPr lang="en-US"/>
          </a:p>
        </p:txBody>
      </p:sp>
    </p:spTree>
    <p:extLst>
      <p:ext uri="{BB962C8B-B14F-4D97-AF65-F5344CB8AC3E}">
        <p14:creationId xmlns:p14="http://schemas.microsoft.com/office/powerpoint/2010/main" val="38102157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Arquitectura de la versión 3.11</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4</a:t>
            </a:fld>
            <a:endParaRPr lang="en-US"/>
          </a:p>
        </p:txBody>
      </p:sp>
    </p:spTree>
    <p:extLst>
      <p:ext uri="{BB962C8B-B14F-4D97-AF65-F5344CB8AC3E}">
        <p14:creationId xmlns:p14="http://schemas.microsoft.com/office/powerpoint/2010/main" val="236047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Lo creo  el coronel de la fuerza aérea de los estados unidos John Boyd</a:t>
            </a:r>
          </a:p>
          <a:p>
            <a:endParaRPr lang="es-419" dirty="0"/>
          </a:p>
          <a:p>
            <a:r>
              <a:rPr lang="es-419" dirty="0"/>
              <a:t>OODA </a:t>
            </a:r>
            <a:r>
              <a:rPr lang="es-419" dirty="0" err="1"/>
              <a:t>Loop</a:t>
            </a:r>
            <a:endParaRPr lang="es-419" dirty="0"/>
          </a:p>
          <a:p>
            <a:r>
              <a:rPr lang="es-419" dirty="0"/>
              <a:t>Observe</a:t>
            </a:r>
          </a:p>
          <a:p>
            <a:r>
              <a:rPr lang="es-419" dirty="0" err="1"/>
              <a:t>Orient</a:t>
            </a:r>
            <a:endParaRPr lang="es-419" dirty="0"/>
          </a:p>
          <a:p>
            <a:r>
              <a:rPr lang="es-419" dirty="0"/>
              <a:t>Decide</a:t>
            </a:r>
          </a:p>
          <a:p>
            <a:r>
              <a:rPr lang="es-419" dirty="0" err="1"/>
              <a:t>Act</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8</a:t>
            </a:fld>
            <a:endParaRPr lang="en-US"/>
          </a:p>
        </p:txBody>
      </p:sp>
    </p:spTree>
    <p:extLst>
      <p:ext uri="{BB962C8B-B14F-4D97-AF65-F5344CB8AC3E}">
        <p14:creationId xmlns:p14="http://schemas.microsoft.com/office/powerpoint/2010/main" val="12990528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10</a:t>
            </a:fld>
            <a:endParaRPr lang="en-US"/>
          </a:p>
        </p:txBody>
      </p:sp>
    </p:spTree>
    <p:extLst>
      <p:ext uri="{BB962C8B-B14F-4D97-AF65-F5344CB8AC3E}">
        <p14:creationId xmlns:p14="http://schemas.microsoft.com/office/powerpoint/2010/main" val="375640575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11</a:t>
            </a:fld>
            <a:endParaRPr lang="en-US"/>
          </a:p>
        </p:txBody>
      </p:sp>
    </p:spTree>
    <p:extLst>
      <p:ext uri="{BB962C8B-B14F-4D97-AF65-F5344CB8AC3E}">
        <p14:creationId xmlns:p14="http://schemas.microsoft.com/office/powerpoint/2010/main" val="20231380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14</a:t>
            </a:fld>
            <a:endParaRPr lang="en-US"/>
          </a:p>
        </p:txBody>
      </p:sp>
    </p:spTree>
    <p:extLst>
      <p:ext uri="{BB962C8B-B14F-4D97-AF65-F5344CB8AC3E}">
        <p14:creationId xmlns:p14="http://schemas.microsoft.com/office/powerpoint/2010/main" val="28161898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Inspeccionar el archivo </a:t>
            </a:r>
            <a:r>
              <a:rPr lang="es-419" dirty="0" err="1"/>
              <a:t>pod</a:t>
            </a:r>
            <a:r>
              <a:rPr lang="es-419" dirty="0"/>
              <a:t> </a:t>
            </a:r>
            <a:r>
              <a:rPr lang="es-419" dirty="0" err="1"/>
              <a:t>definition</a:t>
            </a:r>
            <a:endParaRPr lang="es-419" dirty="0"/>
          </a:p>
          <a:p>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18</a:t>
            </a:fld>
            <a:endParaRPr lang="en-US"/>
          </a:p>
        </p:txBody>
      </p:sp>
    </p:spTree>
    <p:extLst>
      <p:ext uri="{BB962C8B-B14F-4D97-AF65-F5344CB8AC3E}">
        <p14:creationId xmlns:p14="http://schemas.microsoft.com/office/powerpoint/2010/main" val="32567920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err="1"/>
              <a:t>oc</a:t>
            </a:r>
            <a:r>
              <a:rPr lang="es-419" dirty="0"/>
              <a:t> describe </a:t>
            </a:r>
            <a:r>
              <a:rPr lang="es-419" dirty="0" err="1"/>
              <a:t>pod</a:t>
            </a:r>
            <a:r>
              <a:rPr lang="es-419" dirty="0"/>
              <a:t> </a:t>
            </a:r>
            <a:r>
              <a:rPr lang="es-419" dirty="0" err="1"/>
              <a:t>nginx</a:t>
            </a:r>
            <a:endParaRPr lang="es-419" dirty="0"/>
          </a:p>
          <a:p>
            <a:endParaRPr lang="es-419" dirty="0"/>
          </a:p>
          <a:p>
            <a:r>
              <a:rPr lang="es-419" dirty="0" err="1"/>
              <a:t>oc</a:t>
            </a:r>
            <a:r>
              <a:rPr lang="es-419" dirty="0"/>
              <a:t> </a:t>
            </a:r>
            <a:r>
              <a:rPr lang="es-419" dirty="0" err="1"/>
              <a:t>delete</a:t>
            </a:r>
            <a:r>
              <a:rPr lang="es-419" dirty="0"/>
              <a:t> </a:t>
            </a:r>
            <a:r>
              <a:rPr lang="es-419" dirty="0" err="1"/>
              <a:t>pod</a:t>
            </a:r>
            <a:r>
              <a:rPr lang="es-419" dirty="0"/>
              <a:t> </a:t>
            </a:r>
            <a:r>
              <a:rPr lang="es-419" dirty="0" err="1"/>
              <a:t>nginx</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19</a:t>
            </a:fld>
            <a:endParaRPr lang="en-US"/>
          </a:p>
        </p:txBody>
      </p:sp>
    </p:spTree>
    <p:extLst>
      <p:ext uri="{BB962C8B-B14F-4D97-AF65-F5344CB8AC3E}">
        <p14:creationId xmlns:p14="http://schemas.microsoft.com/office/powerpoint/2010/main" val="29193210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Ver el archivo </a:t>
            </a:r>
            <a:r>
              <a:rPr lang="es-419" dirty="0" err="1"/>
              <a:t>service_definition.yaml</a:t>
            </a:r>
            <a:endParaRPr lang="es-419" dirty="0"/>
          </a:p>
          <a:p>
            <a:endParaRPr lang="es-419" dirty="0"/>
          </a:p>
          <a:p>
            <a:r>
              <a:rPr lang="es-419" dirty="0"/>
              <a:t>Describir el servicio</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20</a:t>
            </a:fld>
            <a:endParaRPr lang="en-US"/>
          </a:p>
        </p:txBody>
      </p:sp>
    </p:spTree>
    <p:extLst>
      <p:ext uri="{BB962C8B-B14F-4D97-AF65-F5344CB8AC3E}">
        <p14:creationId xmlns:p14="http://schemas.microsoft.com/office/powerpoint/2010/main" val="76440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Explicar esto</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21</a:t>
            </a:fld>
            <a:endParaRPr lang="en-US"/>
          </a:p>
        </p:txBody>
      </p:sp>
    </p:spTree>
    <p:extLst>
      <p:ext uri="{BB962C8B-B14F-4D97-AF65-F5344CB8AC3E}">
        <p14:creationId xmlns:p14="http://schemas.microsoft.com/office/powerpoint/2010/main" val="386071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25</a:t>
            </a:fld>
            <a:endParaRPr lang="en-US"/>
          </a:p>
        </p:txBody>
      </p:sp>
    </p:spTree>
    <p:extLst>
      <p:ext uri="{BB962C8B-B14F-4D97-AF65-F5344CB8AC3E}">
        <p14:creationId xmlns:p14="http://schemas.microsoft.com/office/powerpoint/2010/main" val="3485712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Escenario de new-app cuando se usa imagen</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26</a:t>
            </a:fld>
            <a:endParaRPr lang="en-US"/>
          </a:p>
        </p:txBody>
      </p:sp>
    </p:spTree>
    <p:extLst>
      <p:ext uri="{BB962C8B-B14F-4D97-AF65-F5344CB8AC3E}">
        <p14:creationId xmlns:p14="http://schemas.microsoft.com/office/powerpoint/2010/main" val="3958179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oc</a:t>
            </a:r>
            <a:r>
              <a:rPr lang="en-US" dirty="0"/>
              <a:t> new-app --search httpd</a:t>
            </a:r>
          </a:p>
          <a:p>
            <a:r>
              <a:rPr lang="en-US" dirty="0"/>
              <a:t>Ver </a:t>
            </a:r>
            <a:r>
              <a:rPr lang="en-US" dirty="0" err="1"/>
              <a:t>desde</a:t>
            </a:r>
            <a:r>
              <a:rPr lang="en-US" dirty="0"/>
              <a:t> la </a:t>
            </a:r>
            <a:r>
              <a:rPr lang="en-US" dirty="0" err="1"/>
              <a:t>consola</a:t>
            </a:r>
            <a:r>
              <a:rPr lang="en-US" dirty="0"/>
              <a:t> </a:t>
            </a:r>
            <a:r>
              <a:rPr lang="en-US" dirty="0" err="1"/>
              <a:t>como</a:t>
            </a:r>
            <a:r>
              <a:rPr lang="en-US" dirty="0"/>
              <a:t> se </a:t>
            </a:r>
            <a:r>
              <a:rPr lang="en-US" dirty="0" err="1"/>
              <a:t>comporta</a:t>
            </a:r>
            <a:r>
              <a:rPr lang="en-US" dirty="0"/>
              <a:t> el </a:t>
            </a:r>
            <a:r>
              <a:rPr lang="en-US" dirty="0" err="1"/>
              <a:t>buildconfig</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27</a:t>
            </a:fld>
            <a:endParaRPr lang="en-US"/>
          </a:p>
        </p:txBody>
      </p:sp>
    </p:spTree>
    <p:extLst>
      <p:ext uri="{BB962C8B-B14F-4D97-AF65-F5344CB8AC3E}">
        <p14:creationId xmlns:p14="http://schemas.microsoft.com/office/powerpoint/2010/main" val="163784500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err="1"/>
              <a:t>Oc</a:t>
            </a:r>
            <a:r>
              <a:rPr lang="es-419" dirty="0"/>
              <a:t> describe </a:t>
            </a:r>
            <a:r>
              <a:rPr lang="es-419" dirty="0" err="1"/>
              <a:t>dc</a:t>
            </a:r>
            <a:r>
              <a:rPr lang="es-419" dirty="0"/>
              <a:t> http para ver los tags</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29</a:t>
            </a:fld>
            <a:endParaRPr lang="en-US"/>
          </a:p>
        </p:txBody>
      </p:sp>
    </p:spTree>
    <p:extLst>
      <p:ext uri="{BB962C8B-B14F-4D97-AF65-F5344CB8AC3E}">
        <p14:creationId xmlns:p14="http://schemas.microsoft.com/office/powerpoint/2010/main" val="12909500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Explicar cada parte</a:t>
            </a:r>
          </a:p>
          <a:p>
            <a:r>
              <a:rPr lang="es-419" dirty="0" err="1"/>
              <a:t>Topology</a:t>
            </a:r>
            <a:endParaRPr lang="es-419" dirty="0"/>
          </a:p>
          <a:p>
            <a:r>
              <a:rPr lang="es-419" dirty="0"/>
              <a:t>Escalar </a:t>
            </a:r>
            <a:r>
              <a:rPr lang="es-419" dirty="0" err="1"/>
              <a:t>pods</a:t>
            </a:r>
            <a:r>
              <a:rPr lang="es-419" dirty="0"/>
              <a:t> por la consola</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DB2DDD-72EF-4E3E-8A2E-778E7D4C4B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10367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Source-to-Image (S2I)</a:t>
            </a:r>
            <a:r>
              <a:rPr lang="en-US" sz="1200" b="0" i="0" kern="1200" dirty="0">
                <a:solidFill>
                  <a:schemeClr val="tx1"/>
                </a:solidFill>
                <a:effectLst/>
                <a:latin typeface="+mn-lt"/>
                <a:ea typeface="+mn-ea"/>
                <a:cs typeface="+mn-cs"/>
              </a:rPr>
              <a:t> is a tool that makes it easy to build container images from application source code. This tool takes an application's source code from a Git repository, injects the source code into a base container based on the language and framework desired, and produces a new container image that runs the assembled application</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31</a:t>
            </a:fld>
            <a:endParaRPr lang="en-US"/>
          </a:p>
        </p:txBody>
      </p:sp>
    </p:spTree>
    <p:extLst>
      <p:ext uri="{BB962C8B-B14F-4D97-AF65-F5344CB8AC3E}">
        <p14:creationId xmlns:p14="http://schemas.microsoft.com/office/powerpoint/2010/main" val="31331545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Cuando se usa la estrategia “</a:t>
            </a:r>
            <a:r>
              <a:rPr lang="es-419" dirty="0" err="1"/>
              <a:t>Source</a:t>
            </a:r>
            <a:r>
              <a:rPr lang="es-419" dirty="0"/>
              <a:t> </a:t>
            </a:r>
            <a:r>
              <a:rPr lang="es-419" dirty="0" err="1"/>
              <a:t>build</a:t>
            </a:r>
            <a:r>
              <a:rPr lang="es-419" dirty="0"/>
              <a:t> </a:t>
            </a:r>
            <a:r>
              <a:rPr lang="es-419" dirty="0" err="1"/>
              <a:t>strategy</a:t>
            </a:r>
            <a:r>
              <a:rPr lang="es-419" dirty="0"/>
              <a:t>”… new-app intenta determinar el lenguaje para construir la aplicación.</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32</a:t>
            </a:fld>
            <a:endParaRPr lang="en-US"/>
          </a:p>
        </p:txBody>
      </p:sp>
    </p:spTree>
    <p:extLst>
      <p:ext uri="{BB962C8B-B14F-4D97-AF65-F5344CB8AC3E}">
        <p14:creationId xmlns:p14="http://schemas.microsoft.com/office/powerpoint/2010/main" val="35492577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Explicar nuevamente el flujo de S2I</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33</a:t>
            </a:fld>
            <a:endParaRPr lang="en-US"/>
          </a:p>
        </p:txBody>
      </p:sp>
    </p:spTree>
    <p:extLst>
      <p:ext uri="{BB962C8B-B14F-4D97-AF65-F5344CB8AC3E}">
        <p14:creationId xmlns:p14="http://schemas.microsoft.com/office/powerpoint/2010/main" val="17039441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Hasta el momento no debería funcionar</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34</a:t>
            </a:fld>
            <a:endParaRPr lang="en-US"/>
          </a:p>
        </p:txBody>
      </p:sp>
    </p:spTree>
    <p:extLst>
      <p:ext uri="{BB962C8B-B14F-4D97-AF65-F5344CB8AC3E}">
        <p14:creationId xmlns:p14="http://schemas.microsoft.com/office/powerpoint/2010/main" val="947882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Mostar el código del repo</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35</a:t>
            </a:fld>
            <a:endParaRPr lang="en-US"/>
          </a:p>
        </p:txBody>
      </p:sp>
    </p:spTree>
    <p:extLst>
      <p:ext uri="{BB962C8B-B14F-4D97-AF65-F5344CB8AC3E}">
        <p14:creationId xmlns:p14="http://schemas.microsoft.com/office/powerpoint/2010/main" val="40714900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A diferencia de usar new-app por la consola hay que indicarle el </a:t>
            </a:r>
            <a:r>
              <a:rPr lang="es-419" dirty="0" err="1"/>
              <a:t>builder</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37</a:t>
            </a:fld>
            <a:endParaRPr lang="en-US"/>
          </a:p>
        </p:txBody>
      </p:sp>
    </p:spTree>
    <p:extLst>
      <p:ext uri="{BB962C8B-B14F-4D97-AF65-F5344CB8AC3E}">
        <p14:creationId xmlns:p14="http://schemas.microsoft.com/office/powerpoint/2010/main" val="30967989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Se puede hacer un </a:t>
            </a:r>
            <a:r>
              <a:rPr lang="es-419" dirty="0" err="1"/>
              <a:t>webhook</a:t>
            </a:r>
            <a:r>
              <a:rPr lang="es-419" dirty="0"/>
              <a:t> para gatillar un nuevo </a:t>
            </a:r>
            <a:r>
              <a:rPr lang="es-419" dirty="0" err="1"/>
              <a:t>build</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38</a:t>
            </a:fld>
            <a:endParaRPr lang="en-US"/>
          </a:p>
        </p:txBody>
      </p:sp>
    </p:spTree>
    <p:extLst>
      <p:ext uri="{BB962C8B-B14F-4D97-AF65-F5344CB8AC3E}">
        <p14:creationId xmlns:p14="http://schemas.microsoft.com/office/powerpoint/2010/main" val="86078834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DB2DDD-72EF-4E3E-8A2E-778E7D4C4B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785504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Explicar ventajas y desventajas</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DB2DDD-72EF-4E3E-8A2E-778E7D4C4B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9789778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Por </a:t>
            </a:r>
            <a:r>
              <a:rPr lang="en-US" sz="1200" b="0" i="0" kern="1200" dirty="0" err="1">
                <a:solidFill>
                  <a:schemeClr val="tx1"/>
                </a:solidFill>
                <a:effectLst/>
                <a:latin typeface="+mn-lt"/>
                <a:ea typeface="+mn-ea"/>
                <a:cs typeface="+mn-cs"/>
              </a:rPr>
              <a:t>linea</a:t>
            </a:r>
            <a:r>
              <a:rPr lang="en-US" sz="1200" b="0" i="0" kern="1200" dirty="0">
                <a:solidFill>
                  <a:schemeClr val="tx1"/>
                </a:solidFill>
                <a:effectLst/>
                <a:latin typeface="+mn-lt"/>
                <a:ea typeface="+mn-ea"/>
                <a:cs typeface="+mn-cs"/>
              </a:rPr>
              <a:t> de commandos </a:t>
            </a:r>
            <a:r>
              <a:rPr lang="en-US" sz="1200" b="0" i="0" kern="1200" dirty="0" err="1">
                <a:solidFill>
                  <a:schemeClr val="tx1"/>
                </a:solidFill>
                <a:effectLst/>
                <a:latin typeface="+mn-lt"/>
                <a:ea typeface="+mn-ea"/>
                <a:cs typeface="+mn-cs"/>
              </a:rPr>
              <a:t>crear</a:t>
            </a:r>
            <a:r>
              <a:rPr lang="en-US" sz="1200" b="0" i="0" kern="1200" dirty="0">
                <a:solidFill>
                  <a:schemeClr val="tx1"/>
                </a:solidFill>
                <a:effectLst/>
                <a:latin typeface="+mn-lt"/>
                <a:ea typeface="+mn-ea"/>
                <a:cs typeface="+mn-cs"/>
              </a:rPr>
              <a:t> el Proyecto</a:t>
            </a: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oc</a:t>
            </a:r>
            <a:r>
              <a:rPr lang="en-US" sz="1200" b="0" i="0" kern="1200" dirty="0">
                <a:solidFill>
                  <a:schemeClr val="tx1"/>
                </a:solidFill>
                <a:effectLst/>
                <a:latin typeface="+mn-lt"/>
                <a:ea typeface="+mn-ea"/>
                <a:cs typeface="+mn-cs"/>
              </a:rPr>
              <a:t> new-project deployments</a:t>
            </a: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Loguearse</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developer</a:t>
            </a:r>
          </a:p>
          <a:p>
            <a:endParaRPr lang="en-US" sz="1200" b="0" i="0" kern="1200" dirty="0">
              <a:solidFill>
                <a:schemeClr val="tx1"/>
              </a:solidFill>
              <a:effectLst/>
              <a:latin typeface="+mn-lt"/>
              <a:ea typeface="+mn-ea"/>
              <a:cs typeface="+mn-cs"/>
            </a:endParaRPr>
          </a:p>
          <a:p>
            <a:r>
              <a:rPr lang="en-US" sz="1200" b="0" i="0" kern="1200" dirty="0" err="1">
                <a:solidFill>
                  <a:schemeClr val="tx1"/>
                </a:solidFill>
                <a:effectLst/>
                <a:latin typeface="+mn-lt"/>
                <a:ea typeface="+mn-ea"/>
                <a:cs typeface="+mn-cs"/>
              </a:rPr>
              <a:t>Entrar</a:t>
            </a:r>
            <a:r>
              <a:rPr lang="en-US" sz="1200" b="0" i="0" kern="1200" dirty="0">
                <a:solidFill>
                  <a:schemeClr val="tx1"/>
                </a:solidFill>
                <a:effectLst/>
                <a:latin typeface="+mn-lt"/>
                <a:ea typeface="+mn-ea"/>
                <a:cs typeface="+mn-cs"/>
              </a:rPr>
              <a:t> al portal </a:t>
            </a:r>
            <a:r>
              <a:rPr lang="en-US" sz="1200" b="0" i="0" kern="1200" dirty="0" err="1">
                <a:solidFill>
                  <a:schemeClr val="tx1"/>
                </a:solidFill>
                <a:effectLst/>
                <a:latin typeface="+mn-lt"/>
                <a:ea typeface="+mn-ea"/>
                <a:cs typeface="+mn-cs"/>
              </a:rPr>
              <a:t>como</a:t>
            </a:r>
            <a:r>
              <a:rPr lang="en-US" sz="1200" b="0" i="0" kern="1200" dirty="0">
                <a:solidFill>
                  <a:schemeClr val="tx1"/>
                </a:solidFill>
                <a:effectLst/>
                <a:latin typeface="+mn-lt"/>
                <a:ea typeface="+mn-ea"/>
                <a:cs typeface="+mn-cs"/>
              </a:rPr>
              <a:t> developer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Ver los logs del pod</a:t>
            </a:r>
          </a:p>
          <a:p>
            <a:endParaRPr lang="en-US" sz="1200" b="0" i="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43</a:t>
            </a:fld>
            <a:endParaRPr lang="en-US"/>
          </a:p>
        </p:txBody>
      </p:sp>
    </p:spTree>
    <p:extLst>
      <p:ext uri="{BB962C8B-B14F-4D97-AF65-F5344CB8AC3E}">
        <p14:creationId xmlns:p14="http://schemas.microsoft.com/office/powerpoint/2010/main" val="145553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oc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adm</a:t>
            </a:r>
            <a:r>
              <a:rPr lang="en-US" sz="1200" b="0" i="0" kern="1200" dirty="0">
                <a:solidFill>
                  <a:schemeClr val="tx1"/>
                </a:solidFill>
                <a:effectLst/>
                <a:latin typeface="+mn-lt"/>
                <a:ea typeface="+mn-ea"/>
                <a:cs typeface="+mn-cs"/>
              </a:rPr>
              <a:t> policy add-</a:t>
            </a:r>
            <a:r>
              <a:rPr lang="en-US" sz="1200" b="0" i="0" kern="1200" dirty="0" err="1">
                <a:solidFill>
                  <a:schemeClr val="tx1"/>
                </a:solidFill>
                <a:effectLst/>
                <a:latin typeface="+mn-lt"/>
                <a:ea typeface="+mn-ea"/>
                <a:cs typeface="+mn-cs"/>
              </a:rPr>
              <a:t>scc</a:t>
            </a:r>
            <a:r>
              <a:rPr lang="en-US" sz="1200" b="0" i="0" kern="1200" dirty="0">
                <a:solidFill>
                  <a:schemeClr val="tx1"/>
                </a:solidFill>
                <a:effectLst/>
                <a:latin typeface="+mn-lt"/>
                <a:ea typeface="+mn-ea"/>
                <a:cs typeface="+mn-cs"/>
              </a:rPr>
              <a:t>-to-user </a:t>
            </a:r>
            <a:r>
              <a:rPr lang="en-US" sz="1200" b="0" i="0" kern="1200" dirty="0" err="1">
                <a:solidFill>
                  <a:schemeClr val="tx1"/>
                </a:solidFill>
                <a:effectLst/>
                <a:latin typeface="+mn-lt"/>
                <a:ea typeface="+mn-ea"/>
                <a:cs typeface="+mn-cs"/>
              </a:rPr>
              <a:t>anyuid</a:t>
            </a:r>
            <a:r>
              <a:rPr lang="en-US" sz="1200" b="0" i="0" kern="1200" dirty="0">
                <a:solidFill>
                  <a:schemeClr val="tx1"/>
                </a:solidFill>
                <a:effectLst/>
                <a:latin typeface="+mn-lt"/>
                <a:ea typeface="+mn-ea"/>
                <a:cs typeface="+mn-cs"/>
              </a:rPr>
              <a:t> -z default -n deployments --as </a:t>
            </a:r>
            <a:r>
              <a:rPr lang="en-US" sz="1200" b="0" i="0" kern="1200" dirty="0" err="1">
                <a:solidFill>
                  <a:schemeClr val="tx1"/>
                </a:solidFill>
                <a:effectLst/>
                <a:latin typeface="+mn-lt"/>
                <a:ea typeface="+mn-ea"/>
                <a:cs typeface="+mn-cs"/>
              </a:rPr>
              <a:t>system:admin</a:t>
            </a: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err="1">
                <a:solidFill>
                  <a:schemeClr val="tx1"/>
                </a:solidFill>
                <a:effectLst/>
                <a:latin typeface="+mn-lt"/>
                <a:ea typeface="+mn-ea"/>
                <a:cs typeface="+mn-cs"/>
              </a:rPr>
              <a:t>oc</a:t>
            </a:r>
            <a:r>
              <a:rPr lang="en-US" sz="1200" b="0" i="0" kern="1200" dirty="0">
                <a:solidFill>
                  <a:schemeClr val="tx1"/>
                </a:solidFill>
                <a:effectLst/>
                <a:latin typeface="+mn-lt"/>
                <a:ea typeface="+mn-ea"/>
                <a:cs typeface="+mn-cs"/>
              </a:rPr>
              <a:t> logs &lt;</a:t>
            </a:r>
            <a:r>
              <a:rPr lang="en-US" sz="1200" b="0" i="0" kern="1200" dirty="0" err="1">
                <a:solidFill>
                  <a:schemeClr val="tx1"/>
                </a:solidFill>
                <a:effectLst/>
                <a:latin typeface="+mn-lt"/>
                <a:ea typeface="+mn-ea"/>
                <a:cs typeface="+mn-cs"/>
              </a:rPr>
              <a:t>nombre</a:t>
            </a:r>
            <a:r>
              <a:rPr lang="en-US" sz="1200" b="0" i="0" kern="1200" dirty="0">
                <a:solidFill>
                  <a:schemeClr val="tx1"/>
                </a:solidFill>
                <a:effectLst/>
                <a:latin typeface="+mn-lt"/>
                <a:ea typeface="+mn-ea"/>
                <a:cs typeface="+mn-cs"/>
              </a:rPr>
              <a:t> de pod&gt;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kern="1200" dirty="0">
                <a:solidFill>
                  <a:schemeClr val="tx1"/>
                </a:solidFill>
                <a:effectLst/>
                <a:latin typeface="+mn-lt"/>
                <a:ea typeface="+mn-ea"/>
                <a:cs typeface="+mn-cs"/>
              </a:rPr>
              <a:t>Si se </a:t>
            </a:r>
            <a:r>
              <a:rPr lang="en-US" sz="1200" b="0" i="0" kern="1200" dirty="0" err="1">
                <a:solidFill>
                  <a:schemeClr val="tx1"/>
                </a:solidFill>
                <a:effectLst/>
                <a:latin typeface="+mn-lt"/>
                <a:ea typeface="+mn-ea"/>
                <a:cs typeface="+mn-cs"/>
              </a:rPr>
              <a:t>corrige</a:t>
            </a:r>
            <a:r>
              <a:rPr lang="en-US" sz="1200" b="0" i="0" kern="1200" dirty="0">
                <a:solidFill>
                  <a:schemeClr val="tx1"/>
                </a:solidFill>
                <a:effectLst/>
                <a:latin typeface="+mn-lt"/>
                <a:ea typeface="+mn-ea"/>
                <a:cs typeface="+mn-cs"/>
              </a:rPr>
              <a:t> los </a:t>
            </a:r>
            <a:r>
              <a:rPr lang="en-US" sz="1200" b="0" i="0" kern="1200" dirty="0" err="1">
                <a:solidFill>
                  <a:schemeClr val="tx1"/>
                </a:solidFill>
                <a:effectLst/>
                <a:latin typeface="+mn-lt"/>
                <a:ea typeface="+mn-ea"/>
                <a:cs typeface="+mn-cs"/>
              </a:rPr>
              <a:t>permisos</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ir</a:t>
            </a:r>
            <a:r>
              <a:rPr lang="en-US" sz="1200" b="0" i="0" kern="1200" dirty="0">
                <a:solidFill>
                  <a:schemeClr val="tx1"/>
                </a:solidFill>
                <a:effectLst/>
                <a:latin typeface="+mn-lt"/>
                <a:ea typeface="+mn-ea"/>
                <a:cs typeface="+mn-cs"/>
              </a:rPr>
              <a:t> a Build Configs y Start Build</a:t>
            </a:r>
          </a:p>
          <a:p>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44</a:t>
            </a:fld>
            <a:endParaRPr lang="en-US"/>
          </a:p>
        </p:txBody>
      </p:sp>
    </p:spTree>
    <p:extLst>
      <p:ext uri="{BB962C8B-B14F-4D97-AF65-F5344CB8AC3E}">
        <p14:creationId xmlns:p14="http://schemas.microsoft.com/office/powerpoint/2010/main" val="343825926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Source-to-Image (S2I)</a:t>
            </a:r>
            <a:r>
              <a:rPr lang="en-US" sz="1200" b="0" i="0" kern="1200" dirty="0">
                <a:solidFill>
                  <a:schemeClr val="tx1"/>
                </a:solidFill>
                <a:effectLst/>
                <a:latin typeface="+mn-lt"/>
                <a:ea typeface="+mn-ea"/>
                <a:cs typeface="+mn-cs"/>
              </a:rPr>
              <a:t> is a tool that makes it easy to build container images from application source code. This tool takes an application's source code from a Git repository, injects the source code into a base container based on the language and framework desired, and produces a new container image that runs the assembled application</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DB2DDD-72EF-4E3E-8A2E-778E7D4C4B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76129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Indicar de que </a:t>
            </a:r>
            <a:r>
              <a:rPr lang="es-419" dirty="0" err="1"/>
              <a:t>registry</a:t>
            </a:r>
            <a:r>
              <a:rPr lang="es-419" dirty="0"/>
              <a:t> viene quai.io</a:t>
            </a:r>
          </a:p>
          <a:p>
            <a:endParaRPr lang="es-419" dirty="0"/>
          </a:p>
          <a:p>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47</a:t>
            </a:fld>
            <a:endParaRPr lang="en-US"/>
          </a:p>
        </p:txBody>
      </p:sp>
    </p:spTree>
    <p:extLst>
      <p:ext uri="{BB962C8B-B14F-4D97-AF65-F5344CB8AC3E}">
        <p14:creationId xmlns:p14="http://schemas.microsoft.com/office/powerpoint/2010/main" val="36494133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Previo eliminar los otros recursos</a:t>
            </a:r>
          </a:p>
          <a:p>
            <a:endParaRPr lang="es-419" dirty="0"/>
          </a:p>
          <a:p>
            <a:r>
              <a:rPr lang="es-419" dirty="0"/>
              <a:t>Este ejercicio es del training de red </a:t>
            </a:r>
            <a:r>
              <a:rPr lang="es-419" dirty="0" err="1"/>
              <a:t>hat</a:t>
            </a:r>
            <a:r>
              <a:rPr lang="es-419" dirty="0"/>
              <a:t> (DO180)</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48</a:t>
            </a:fld>
            <a:endParaRPr lang="en-US"/>
          </a:p>
        </p:txBody>
      </p:sp>
    </p:spTree>
    <p:extLst>
      <p:ext uri="{BB962C8B-B14F-4D97-AF65-F5344CB8AC3E}">
        <p14:creationId xmlns:p14="http://schemas.microsoft.com/office/powerpoint/2010/main" val="142778501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Entrar como </a:t>
            </a:r>
            <a:r>
              <a:rPr lang="es-419" dirty="0" err="1"/>
              <a:t>Admin</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51</a:t>
            </a:fld>
            <a:endParaRPr lang="en-US"/>
          </a:p>
        </p:txBody>
      </p:sp>
    </p:spTree>
    <p:extLst>
      <p:ext uri="{BB962C8B-B14F-4D97-AF65-F5344CB8AC3E}">
        <p14:creationId xmlns:p14="http://schemas.microsoft.com/office/powerpoint/2010/main" val="1803588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i="0" u="none" strike="noStrike" kern="1200" dirty="0">
                <a:solidFill>
                  <a:schemeClr val="tx1"/>
                </a:solidFill>
                <a:effectLst/>
                <a:latin typeface="+mn-lt"/>
                <a:ea typeface="+mn-ea"/>
                <a:cs typeface="+mn-cs"/>
              </a:rPr>
              <a:t>Blue green deployment is an application release model that gradually transfers user traffic from a previous version of an app or microservice to a nearly identical new release—both of which are running in production. </a:t>
            </a:r>
          </a:p>
          <a:p>
            <a:r>
              <a:rPr lang="en-US" sz="1200" i="0" u="none" strike="noStrike" kern="1200" dirty="0">
                <a:solidFill>
                  <a:schemeClr val="tx1"/>
                </a:solidFill>
                <a:effectLst/>
                <a:latin typeface="+mn-lt"/>
                <a:ea typeface="+mn-ea"/>
                <a:cs typeface="+mn-cs"/>
              </a:rPr>
              <a:t>The old version can be called the blue environment while the new version can be known as the green environment. Once production traffic is fully transferred from blue to green, blue can </a:t>
            </a:r>
            <a:r>
              <a:rPr lang="en-US" sz="1200" i="0" u="none" strike="noStrike" kern="1200" dirty="0" err="1">
                <a:solidFill>
                  <a:schemeClr val="tx1"/>
                </a:solidFill>
                <a:effectLst/>
                <a:latin typeface="+mn-lt"/>
                <a:ea typeface="+mn-ea"/>
                <a:cs typeface="+mn-cs"/>
              </a:rPr>
              <a:t>standy</a:t>
            </a:r>
            <a:r>
              <a:rPr lang="en-US" sz="1200" i="0" u="none" strike="noStrike" kern="1200" dirty="0">
                <a:solidFill>
                  <a:schemeClr val="tx1"/>
                </a:solidFill>
                <a:effectLst/>
                <a:latin typeface="+mn-lt"/>
                <a:ea typeface="+mn-ea"/>
                <a:cs typeface="+mn-cs"/>
              </a:rPr>
              <a:t> in case of rollback or pulled from production and updated to become the template upon which the next update is made.</a:t>
            </a:r>
          </a:p>
          <a:p>
            <a:r>
              <a:rPr lang="en-US" sz="1200" i="0" u="none" strike="noStrike" kern="1200" dirty="0">
                <a:solidFill>
                  <a:schemeClr val="tx1"/>
                </a:solidFill>
                <a:effectLst/>
                <a:latin typeface="+mn-lt"/>
                <a:ea typeface="+mn-ea"/>
                <a:cs typeface="+mn-cs"/>
              </a:rPr>
              <a:t>There are downsides to this continuous deployment model. Not all environments have the same uptime requirements or the resources to properly perform </a:t>
            </a:r>
            <a:r>
              <a:rPr lang="en-US" sz="1200" i="0" u="none" strike="noStrike" kern="1200" dirty="0">
                <a:solidFill>
                  <a:schemeClr val="tx1"/>
                </a:solidFill>
                <a:effectLst/>
                <a:latin typeface="+mn-lt"/>
                <a:ea typeface="+mn-ea"/>
                <a:cs typeface="+mn-cs"/>
                <a:hlinkClick r:id="rId3"/>
              </a:rPr>
              <a:t>CI/CD</a:t>
            </a:r>
            <a:r>
              <a:rPr lang="en-US" sz="1200" i="0" u="none" strike="noStrike" kern="1200" dirty="0">
                <a:solidFill>
                  <a:schemeClr val="tx1"/>
                </a:solidFill>
                <a:effectLst/>
                <a:latin typeface="+mn-lt"/>
                <a:ea typeface="+mn-ea"/>
                <a:cs typeface="+mn-cs"/>
              </a:rPr>
              <a:t> processes like blue green. But many apps evolve to support such continuous delivery as the enterprises supporting them digitally transform.</a:t>
            </a:r>
          </a:p>
          <a:p>
            <a:endParaRPr lang="en-US" sz="1200" i="0" u="none" strike="noStrike" kern="1200" dirty="0">
              <a:solidFill>
                <a:schemeClr val="tx1"/>
              </a:solidFill>
              <a:effectLst/>
              <a:latin typeface="+mn-lt"/>
              <a:ea typeface="+mn-ea"/>
              <a:cs typeface="+mn-cs"/>
            </a:endParaRPr>
          </a:p>
          <a:p>
            <a:r>
              <a:rPr lang="es-419" dirty="0"/>
              <a:t>https://www.redhat.com/en/topics/devops/what-is-blue-green-deployment</a:t>
            </a:r>
          </a:p>
          <a:p>
            <a:endParaRPr lang="es-419" dirty="0"/>
          </a:p>
          <a:p>
            <a:r>
              <a:rPr lang="es-419" dirty="0"/>
              <a:t>Un blue/</a:t>
            </a:r>
            <a:r>
              <a:rPr lang="es-419" dirty="0" err="1"/>
              <a:t>green</a:t>
            </a:r>
            <a:r>
              <a:rPr lang="es-419" dirty="0"/>
              <a:t> </a:t>
            </a:r>
            <a:r>
              <a:rPr lang="es-419" dirty="0" err="1"/>
              <a:t>deployment</a:t>
            </a:r>
            <a:r>
              <a:rPr lang="es-419" dirty="0"/>
              <a:t> permite tener dos versiones de la aplicación ejecutándose al mismo tiempo</a:t>
            </a:r>
          </a:p>
          <a:p>
            <a:r>
              <a:rPr lang="es-419" dirty="0"/>
              <a:t>El cambio se hace en la </a:t>
            </a:r>
            <a:r>
              <a:rPr lang="es-419" dirty="0" err="1"/>
              <a:t>route</a:t>
            </a:r>
            <a:r>
              <a:rPr lang="es-419" dirty="0"/>
              <a:t>.</a:t>
            </a:r>
          </a:p>
          <a:p>
            <a:r>
              <a:rPr lang="es-419" dirty="0"/>
              <a:t>Esto permite hacer </a:t>
            </a:r>
            <a:r>
              <a:rPr lang="es-419" dirty="0" err="1"/>
              <a:t>rollback</a:t>
            </a:r>
            <a:r>
              <a:rPr lang="es-419" dirty="0"/>
              <a:t> fácilmente </a:t>
            </a:r>
          </a:p>
          <a:p>
            <a:endParaRPr lang="es-419" dirty="0"/>
          </a:p>
          <a:p>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53</a:t>
            </a:fld>
            <a:endParaRPr lang="en-US"/>
          </a:p>
        </p:txBody>
      </p:sp>
    </p:spTree>
    <p:extLst>
      <p:ext uri="{BB962C8B-B14F-4D97-AF65-F5344CB8AC3E}">
        <p14:creationId xmlns:p14="http://schemas.microsoft.com/office/powerpoint/2010/main" val="133217613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a:t>Escenario de new-app cuando se usa imagen</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DB2DDD-72EF-4E3E-8A2E-778E7D4C4B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14374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1" kern="1200" dirty="0">
                <a:solidFill>
                  <a:schemeClr val="tx1"/>
                </a:solidFill>
                <a:effectLst/>
                <a:latin typeface="+mn-lt"/>
                <a:ea typeface="+mn-ea"/>
                <a:cs typeface="+mn-cs"/>
              </a:rPr>
              <a:t>Source-to-Image (S2I)</a:t>
            </a:r>
            <a:r>
              <a:rPr lang="en-US" sz="1200" b="0" i="0" kern="1200" dirty="0">
                <a:solidFill>
                  <a:schemeClr val="tx1"/>
                </a:solidFill>
                <a:effectLst/>
                <a:latin typeface="+mn-lt"/>
                <a:ea typeface="+mn-ea"/>
                <a:cs typeface="+mn-cs"/>
              </a:rPr>
              <a:t> is a tool that makes it easy to build container images from application source code. This tool takes an application's source code from a Git repository, injects the source code into a base container based on the language and framework desired, and produces a new container image that runs the assembled application</a:t>
            </a: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FDB2DDD-72EF-4E3E-8A2E-778E7D4C4B5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7966960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419" dirty="0" err="1"/>
              <a:t>Template</a:t>
            </a:r>
            <a:r>
              <a:rPr lang="es-419" dirty="0"/>
              <a:t> son imágenes parametrizadas</a:t>
            </a:r>
            <a:endParaRPr lang="en-US" dirty="0"/>
          </a:p>
        </p:txBody>
      </p:sp>
      <p:sp>
        <p:nvSpPr>
          <p:cNvPr id="4" name="Slide Number Placeholder 3"/>
          <p:cNvSpPr>
            <a:spLocks noGrp="1"/>
          </p:cNvSpPr>
          <p:nvPr>
            <p:ph type="sldNum" sz="quarter" idx="5"/>
          </p:nvPr>
        </p:nvSpPr>
        <p:spPr/>
        <p:txBody>
          <a:bodyPr/>
          <a:lstStyle/>
          <a:p>
            <a:fld id="{CFDB2DDD-72EF-4E3E-8A2E-778E7D4C4B51}" type="slidenum">
              <a:rPr lang="en-US" smtClean="0"/>
              <a:t>60</a:t>
            </a:fld>
            <a:endParaRPr lang="en-US"/>
          </a:p>
        </p:txBody>
      </p:sp>
    </p:spTree>
    <p:extLst>
      <p:ext uri="{BB962C8B-B14F-4D97-AF65-F5344CB8AC3E}">
        <p14:creationId xmlns:p14="http://schemas.microsoft.com/office/powerpoint/2010/main" val="42200631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C9E0C-5E5F-4F56-B88A-FC1E8A1C65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7C6A41F-3268-4A79-A3D0-455AA06D18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72B50E6-B0AA-4F34-ACC5-C203E42D6732}"/>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5" name="Footer Placeholder 4">
            <a:extLst>
              <a:ext uri="{FF2B5EF4-FFF2-40B4-BE49-F238E27FC236}">
                <a16:creationId xmlns:a16="http://schemas.microsoft.com/office/drawing/2014/main" id="{97C02635-64B8-4BC2-883B-8842698EAF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18D39D2-7415-4AEA-92C7-14104404C90E}"/>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33574094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06CBA-A6C8-408F-8C6C-7CC0E56227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B08C7CA-CF22-4B3D-B1CE-E0A3CAE31D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B2EBCB4-70F5-4D4C-BA8A-1B27149147AE}"/>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5" name="Footer Placeholder 4">
            <a:extLst>
              <a:ext uri="{FF2B5EF4-FFF2-40B4-BE49-F238E27FC236}">
                <a16:creationId xmlns:a16="http://schemas.microsoft.com/office/drawing/2014/main" id="{C6BAD051-CBAE-4166-AE7C-944EA9240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0591D9-7EC3-4126-BC96-F5DC837BB6D8}"/>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12639720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CE169-9258-4956-BAE6-D5641BB3B78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B495E03-7A9C-4B37-A72A-59D3B5007BF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45FA01-E2C1-48EB-8D07-A7D695B9E87E}"/>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5" name="Footer Placeholder 4">
            <a:extLst>
              <a:ext uri="{FF2B5EF4-FFF2-40B4-BE49-F238E27FC236}">
                <a16:creationId xmlns:a16="http://schemas.microsoft.com/office/drawing/2014/main" id="{6F274D6B-A2DF-4802-A438-107F618422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FAEA3E-942B-4C36-BA8C-7FD3C5DC67E6}"/>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7702145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4E930-D2C4-4EFB-BB5C-273B64AD7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C806683-AE30-4DA7-A9D9-868F3838544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FB35378-8525-4AC2-BDCA-FEFD18862A3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21B7FC7-98AA-49E4-A3F2-2BEF05FB28C3}"/>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6" name="Footer Placeholder 5">
            <a:extLst>
              <a:ext uri="{FF2B5EF4-FFF2-40B4-BE49-F238E27FC236}">
                <a16:creationId xmlns:a16="http://schemas.microsoft.com/office/drawing/2014/main" id="{FB54CD0A-48D8-40F9-B0A4-3E93751122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CA2204-81CA-4778-BA7D-12B39184A1BF}"/>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773448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BCBBE1-F0A0-4BEE-8757-1B99DCD1481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C4C6A6C-B262-40D9-88C8-0BDADA6DB78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EABA3E-2DE4-4763-93D0-294722A0C1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FD1B68E-6FFF-4D87-970E-353D84A8B0E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21150C2-FE91-47EE-A798-8A05AF4E977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35197A7-5368-4A6A-82CB-65AC6541FBDC}"/>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8" name="Footer Placeholder 7">
            <a:extLst>
              <a:ext uri="{FF2B5EF4-FFF2-40B4-BE49-F238E27FC236}">
                <a16:creationId xmlns:a16="http://schemas.microsoft.com/office/drawing/2014/main" id="{7A858C75-4799-43A9-A4C9-FADECAEE59E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9B284B2-25D4-4CE1-B267-F281409BB87E}"/>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179396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CEB39-88F6-454F-A446-C8766A4243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D4AB10B-599E-4897-8E51-6B089FB3606D}"/>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4" name="Footer Placeholder 3">
            <a:extLst>
              <a:ext uri="{FF2B5EF4-FFF2-40B4-BE49-F238E27FC236}">
                <a16:creationId xmlns:a16="http://schemas.microsoft.com/office/drawing/2014/main" id="{B951E975-9B12-4530-A66F-1A2D805BB9C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26E89A8-EBEA-46B9-9FF8-2F448109EB72}"/>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4105449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B2CB75-D515-4B2F-B7A7-8B94FC4472EB}"/>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3" name="Footer Placeholder 2">
            <a:extLst>
              <a:ext uri="{FF2B5EF4-FFF2-40B4-BE49-F238E27FC236}">
                <a16:creationId xmlns:a16="http://schemas.microsoft.com/office/drawing/2014/main" id="{0BE161E9-8691-40DD-97D6-E0F384C63CF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ECDCF4A-2E32-48D8-8595-03F478874E8A}"/>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38431277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B0667E-1854-4737-988D-88EDC130BF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748FA72-C53D-4DA1-A3CB-B53C71C277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2D53C10-FA4A-43A4-8C51-9633199ADC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29674C-E8C6-4441-98F6-07C0D5967C6A}"/>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6" name="Footer Placeholder 5">
            <a:extLst>
              <a:ext uri="{FF2B5EF4-FFF2-40B4-BE49-F238E27FC236}">
                <a16:creationId xmlns:a16="http://schemas.microsoft.com/office/drawing/2014/main" id="{AB6598D1-D78F-4C51-A7D7-4B2153901F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C6E2E0-FBE6-479D-9D76-AE77DAB781F1}"/>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2587457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63D6E-12E8-4929-9059-BD2995C2B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763B085-F548-4213-BDBE-3C365753C2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04D959-1172-4124-83F6-AC3E4A3BE8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F2DDC3-F154-4DE1-9E7F-CC7A4DA99A5F}"/>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6" name="Footer Placeholder 5">
            <a:extLst>
              <a:ext uri="{FF2B5EF4-FFF2-40B4-BE49-F238E27FC236}">
                <a16:creationId xmlns:a16="http://schemas.microsoft.com/office/drawing/2014/main" id="{687EF96A-BB92-4737-8D36-4CE9D53278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55C40D-1C34-4973-8B1B-22ABE71C875D}"/>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12855570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CE3C5-DC5C-42AD-A39A-E472F516059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F05A14E-E7DA-46F4-B4CC-0E00AC8D2D1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EF1959-15D4-4782-816C-A82C6159C2AA}"/>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5" name="Footer Placeholder 4">
            <a:extLst>
              <a:ext uri="{FF2B5EF4-FFF2-40B4-BE49-F238E27FC236}">
                <a16:creationId xmlns:a16="http://schemas.microsoft.com/office/drawing/2014/main" id="{031EDE45-067F-4C30-9996-E6EEFC8C85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D72094-A28E-41E1-B906-7228E7558F00}"/>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42617665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141227D-A471-4D58-9746-734EC1D9E896}"/>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8CEE71F-4F8A-4204-94E1-731FC135B6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E5132C-8AE2-4023-BC3B-AC0243ECD988}"/>
              </a:ext>
            </a:extLst>
          </p:cNvPr>
          <p:cNvSpPr>
            <a:spLocks noGrp="1"/>
          </p:cNvSpPr>
          <p:nvPr>
            <p:ph type="dt" sz="half" idx="10"/>
          </p:nvPr>
        </p:nvSpPr>
        <p:spPr/>
        <p:txBody>
          <a:bodyPr/>
          <a:lstStyle/>
          <a:p>
            <a:fld id="{49530CC2-6ED5-4A1F-88DA-8F1F8940CF76}" type="datetimeFigureOut">
              <a:rPr lang="en-US" smtClean="0"/>
              <a:t>6/17/2020</a:t>
            </a:fld>
            <a:endParaRPr lang="en-US"/>
          </a:p>
        </p:txBody>
      </p:sp>
      <p:sp>
        <p:nvSpPr>
          <p:cNvPr id="5" name="Footer Placeholder 4">
            <a:extLst>
              <a:ext uri="{FF2B5EF4-FFF2-40B4-BE49-F238E27FC236}">
                <a16:creationId xmlns:a16="http://schemas.microsoft.com/office/drawing/2014/main" id="{26BA9D4E-635B-4AE1-864B-1FDC77FDA4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A267B1D-E47E-407B-985F-0BE325DD4C0C}"/>
              </a:ext>
            </a:extLst>
          </p:cNvPr>
          <p:cNvSpPr>
            <a:spLocks noGrp="1"/>
          </p:cNvSpPr>
          <p:nvPr>
            <p:ph type="sldNum" sz="quarter" idx="12"/>
          </p:nvPr>
        </p:nvSpPr>
        <p:spPr/>
        <p:txBody>
          <a:bodyPr/>
          <a:lstStyle/>
          <a:p>
            <a:fld id="{86551A99-3EBE-4C0E-B242-829E96EB0AC7}" type="slidenum">
              <a:rPr lang="en-US" smtClean="0"/>
              <a:t>‹#›</a:t>
            </a:fld>
            <a:endParaRPr lang="en-US"/>
          </a:p>
        </p:txBody>
      </p:sp>
    </p:spTree>
    <p:extLst>
      <p:ext uri="{BB962C8B-B14F-4D97-AF65-F5344CB8AC3E}">
        <p14:creationId xmlns:p14="http://schemas.microsoft.com/office/powerpoint/2010/main" val="25335363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E95A8F1-88CD-472B-8542-966E0E3F407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3FA8228-D91C-46B3-B4A7-AF9141D3612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A1FA6DF-B557-4124-AB48-E66105B4B9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530CC2-6ED5-4A1F-88DA-8F1F8940CF76}" type="datetimeFigureOut">
              <a:rPr lang="en-US" smtClean="0"/>
              <a:t>6/17/2020</a:t>
            </a:fld>
            <a:endParaRPr lang="en-US"/>
          </a:p>
        </p:txBody>
      </p:sp>
      <p:sp>
        <p:nvSpPr>
          <p:cNvPr id="5" name="Footer Placeholder 4">
            <a:extLst>
              <a:ext uri="{FF2B5EF4-FFF2-40B4-BE49-F238E27FC236}">
                <a16:creationId xmlns:a16="http://schemas.microsoft.com/office/drawing/2014/main" id="{7D64659A-2A91-4C08-BEE3-4907D5ED31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41C85C9-1514-4983-800A-BBA5B2B641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551A99-3EBE-4C0E-B242-829E96EB0AC7}" type="slidenum">
              <a:rPr lang="en-US" smtClean="0"/>
              <a:t>‹#›</a:t>
            </a:fld>
            <a:endParaRPr lang="en-US"/>
          </a:p>
        </p:txBody>
      </p:sp>
    </p:spTree>
    <p:extLst>
      <p:ext uri="{BB962C8B-B14F-4D97-AF65-F5344CB8AC3E}">
        <p14:creationId xmlns:p14="http://schemas.microsoft.com/office/powerpoint/2010/main" val="23382665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www.katacoda.com/openshift/courses/playgrounds/openshift42"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hyperlink" Target="https://github.com/jyamaniha/python_flask.git"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https://github.com/jyamaniha/ocp_dockerfile.git" TargetMode="External"/><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hyperlink" Target="https://ibm-surveys.w3ibm.mybluemix.net/survey/answer?surveyId=5eea313cae6ca6004b0775e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609D8-9EC2-4221-876A-21F7DEF9E3BB}"/>
              </a:ext>
            </a:extLst>
          </p:cNvPr>
          <p:cNvSpPr>
            <a:spLocks noGrp="1"/>
          </p:cNvSpPr>
          <p:nvPr>
            <p:ph type="ctrTitle"/>
          </p:nvPr>
        </p:nvSpPr>
        <p:spPr>
          <a:xfrm>
            <a:off x="1166649" y="6335494"/>
            <a:ext cx="9144000" cy="2387600"/>
          </a:xfrm>
        </p:spPr>
        <p:txBody>
          <a:bodyPr/>
          <a:lstStyle/>
          <a:p>
            <a:r>
              <a:rPr lang="es-419" dirty="0" err="1"/>
              <a:t>OpenShift</a:t>
            </a:r>
            <a:r>
              <a:rPr lang="es-419" dirty="0"/>
              <a:t> Essentials</a:t>
            </a:r>
            <a:endParaRPr lang="en-US" dirty="0"/>
          </a:p>
        </p:txBody>
      </p:sp>
      <p:pic>
        <p:nvPicPr>
          <p:cNvPr id="12" name="Picture 11" descr="A close up of a logo&#10;&#10;Description automatically generated">
            <a:extLst>
              <a:ext uri="{FF2B5EF4-FFF2-40B4-BE49-F238E27FC236}">
                <a16:creationId xmlns:a16="http://schemas.microsoft.com/office/drawing/2014/main" id="{337357E1-5314-4930-BE9C-406735E8A1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20411" y="1875631"/>
            <a:ext cx="5592128" cy="3106738"/>
          </a:xfrm>
          <a:prstGeom prst="rect">
            <a:avLst/>
          </a:prstGeom>
        </p:spPr>
      </p:pic>
    </p:spTree>
    <p:extLst>
      <p:ext uri="{BB962C8B-B14F-4D97-AF65-F5344CB8AC3E}">
        <p14:creationId xmlns:p14="http://schemas.microsoft.com/office/powerpoint/2010/main" val="3758348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C75E2-AFC0-42F4-8699-86792258B359}"/>
              </a:ext>
            </a:extLst>
          </p:cNvPr>
          <p:cNvSpPr>
            <a:spLocks noGrp="1"/>
          </p:cNvSpPr>
          <p:nvPr>
            <p:ph type="title"/>
          </p:nvPr>
        </p:nvSpPr>
        <p:spPr/>
        <p:txBody>
          <a:bodyPr/>
          <a:lstStyle/>
          <a:p>
            <a:r>
              <a:rPr lang="es-419" dirty="0"/>
              <a:t>Red </a:t>
            </a:r>
            <a:r>
              <a:rPr lang="es-419" dirty="0" err="1"/>
              <a:t>Hat</a:t>
            </a:r>
            <a:r>
              <a:rPr lang="es-419" dirty="0"/>
              <a:t> </a:t>
            </a:r>
            <a:r>
              <a:rPr lang="es-419" dirty="0" err="1"/>
              <a:t>OpenShift</a:t>
            </a:r>
            <a:r>
              <a:rPr lang="es-419" dirty="0"/>
              <a:t> </a:t>
            </a:r>
            <a:r>
              <a:rPr lang="es-419" dirty="0" err="1"/>
              <a:t>product</a:t>
            </a:r>
            <a:r>
              <a:rPr lang="es-419" dirty="0"/>
              <a:t> </a:t>
            </a:r>
            <a:r>
              <a:rPr lang="es-419" dirty="0" err="1"/>
              <a:t>family</a:t>
            </a:r>
            <a:endParaRPr lang="en-US" dirty="0"/>
          </a:p>
        </p:txBody>
      </p:sp>
      <p:sp>
        <p:nvSpPr>
          <p:cNvPr id="3" name="Content Placeholder 2">
            <a:extLst>
              <a:ext uri="{FF2B5EF4-FFF2-40B4-BE49-F238E27FC236}">
                <a16:creationId xmlns:a16="http://schemas.microsoft.com/office/drawing/2014/main" id="{F37DB838-E41D-4D59-AEDB-5081C51C7B1C}"/>
              </a:ext>
            </a:extLst>
          </p:cNvPr>
          <p:cNvSpPr>
            <a:spLocks noGrp="1"/>
          </p:cNvSpPr>
          <p:nvPr>
            <p:ph idx="1"/>
          </p:nvPr>
        </p:nvSpPr>
        <p:spPr/>
        <p:txBody>
          <a:bodyPr/>
          <a:lstStyle/>
          <a:p>
            <a:r>
              <a:rPr lang="es-419" dirty="0"/>
              <a:t>Red </a:t>
            </a:r>
            <a:r>
              <a:rPr lang="es-419" dirty="0" err="1"/>
              <a:t>Hat</a:t>
            </a:r>
            <a:r>
              <a:rPr lang="es-419" dirty="0"/>
              <a:t> </a:t>
            </a:r>
            <a:r>
              <a:rPr lang="es-419" dirty="0" err="1"/>
              <a:t>OpenShift</a:t>
            </a:r>
            <a:r>
              <a:rPr lang="es-419" dirty="0"/>
              <a:t> Container </a:t>
            </a:r>
            <a:r>
              <a:rPr lang="es-419" dirty="0" err="1"/>
              <a:t>Platform</a:t>
            </a:r>
            <a:endParaRPr lang="es-419" dirty="0"/>
          </a:p>
          <a:p>
            <a:r>
              <a:rPr lang="es-419" dirty="0"/>
              <a:t>Red </a:t>
            </a:r>
            <a:r>
              <a:rPr lang="es-419" dirty="0" err="1"/>
              <a:t>Hat</a:t>
            </a:r>
            <a:r>
              <a:rPr lang="es-419" dirty="0"/>
              <a:t> </a:t>
            </a:r>
            <a:r>
              <a:rPr lang="es-419" dirty="0" err="1"/>
              <a:t>OpenShift</a:t>
            </a:r>
            <a:r>
              <a:rPr lang="es-419" dirty="0"/>
              <a:t> </a:t>
            </a:r>
            <a:r>
              <a:rPr lang="es-419" dirty="0" err="1"/>
              <a:t>Dedicated</a:t>
            </a:r>
            <a:endParaRPr lang="es-419" dirty="0"/>
          </a:p>
          <a:p>
            <a:r>
              <a:rPr lang="es-419" dirty="0"/>
              <a:t>Red </a:t>
            </a:r>
            <a:r>
              <a:rPr lang="es-419" dirty="0" err="1"/>
              <a:t>Hat</a:t>
            </a:r>
            <a:r>
              <a:rPr lang="es-419" dirty="0"/>
              <a:t> </a:t>
            </a:r>
            <a:r>
              <a:rPr lang="es-419" dirty="0" err="1"/>
              <a:t>OpenShift</a:t>
            </a:r>
            <a:r>
              <a:rPr lang="es-419" dirty="0"/>
              <a:t> Online</a:t>
            </a:r>
          </a:p>
          <a:p>
            <a:r>
              <a:rPr lang="es-419" dirty="0"/>
              <a:t>Red </a:t>
            </a:r>
            <a:r>
              <a:rPr lang="es-419" dirty="0" err="1"/>
              <a:t>Hat</a:t>
            </a:r>
            <a:r>
              <a:rPr lang="es-419" dirty="0"/>
              <a:t> </a:t>
            </a:r>
            <a:r>
              <a:rPr lang="es-419" dirty="0" err="1"/>
              <a:t>Code</a:t>
            </a:r>
            <a:r>
              <a:rPr lang="es-419" dirty="0"/>
              <a:t> </a:t>
            </a:r>
            <a:r>
              <a:rPr lang="es-419" dirty="0" err="1"/>
              <a:t>Ready</a:t>
            </a:r>
            <a:r>
              <a:rPr lang="es-419" dirty="0"/>
              <a:t> </a:t>
            </a:r>
            <a:r>
              <a:rPr lang="es-419" dirty="0" err="1"/>
              <a:t>Containers</a:t>
            </a:r>
            <a:endParaRPr lang="en-US" dirty="0"/>
          </a:p>
        </p:txBody>
      </p:sp>
    </p:spTree>
    <p:extLst>
      <p:ext uri="{BB962C8B-B14F-4D97-AF65-F5344CB8AC3E}">
        <p14:creationId xmlns:p14="http://schemas.microsoft.com/office/powerpoint/2010/main" val="28201587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540832-49BF-46D8-832D-3A2EB0667EC5}"/>
              </a:ext>
            </a:extLst>
          </p:cNvPr>
          <p:cNvPicPr>
            <a:picLocks noChangeAspect="1"/>
          </p:cNvPicPr>
          <p:nvPr/>
        </p:nvPicPr>
        <p:blipFill>
          <a:blip r:embed="rId2"/>
          <a:stretch>
            <a:fillRect/>
          </a:stretch>
        </p:blipFill>
        <p:spPr>
          <a:xfrm>
            <a:off x="1024926" y="383936"/>
            <a:ext cx="9775346" cy="6090127"/>
          </a:xfrm>
          <a:prstGeom prst="rect">
            <a:avLst/>
          </a:prstGeom>
        </p:spPr>
      </p:pic>
    </p:spTree>
    <p:extLst>
      <p:ext uri="{BB962C8B-B14F-4D97-AF65-F5344CB8AC3E}">
        <p14:creationId xmlns:p14="http://schemas.microsoft.com/office/powerpoint/2010/main" val="34857718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765FF74-9469-4EBE-8665-68D568A5889A}"/>
              </a:ext>
            </a:extLst>
          </p:cNvPr>
          <p:cNvPicPr>
            <a:picLocks noChangeAspect="1"/>
          </p:cNvPicPr>
          <p:nvPr/>
        </p:nvPicPr>
        <p:blipFill>
          <a:blip r:embed="rId3"/>
          <a:stretch>
            <a:fillRect/>
          </a:stretch>
        </p:blipFill>
        <p:spPr>
          <a:xfrm>
            <a:off x="1745984" y="1228601"/>
            <a:ext cx="7750007" cy="4400797"/>
          </a:xfrm>
          <a:prstGeom prst="rect">
            <a:avLst/>
          </a:prstGeom>
        </p:spPr>
      </p:pic>
    </p:spTree>
    <p:extLst>
      <p:ext uri="{BB962C8B-B14F-4D97-AF65-F5344CB8AC3E}">
        <p14:creationId xmlns:p14="http://schemas.microsoft.com/office/powerpoint/2010/main" val="39352921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C1606-609D-43D4-9AE8-EDF74F7DB62C}"/>
              </a:ext>
            </a:extLst>
          </p:cNvPr>
          <p:cNvSpPr>
            <a:spLocks noGrp="1"/>
          </p:cNvSpPr>
          <p:nvPr>
            <p:ph type="title"/>
          </p:nvPr>
        </p:nvSpPr>
        <p:spPr/>
        <p:txBody>
          <a:bodyPr/>
          <a:lstStyle/>
          <a:p>
            <a:r>
              <a:rPr lang="es-419" dirty="0"/>
              <a:t>Características de </a:t>
            </a:r>
            <a:r>
              <a:rPr lang="es-419" dirty="0" err="1"/>
              <a:t>OpenShift</a:t>
            </a:r>
            <a:endParaRPr lang="en-US" dirty="0"/>
          </a:p>
        </p:txBody>
      </p:sp>
      <p:sp>
        <p:nvSpPr>
          <p:cNvPr id="3" name="Content Placeholder 2">
            <a:extLst>
              <a:ext uri="{FF2B5EF4-FFF2-40B4-BE49-F238E27FC236}">
                <a16:creationId xmlns:a16="http://schemas.microsoft.com/office/drawing/2014/main" id="{F85E4FF0-E649-49F2-AA33-7D249488E81C}"/>
              </a:ext>
            </a:extLst>
          </p:cNvPr>
          <p:cNvSpPr>
            <a:spLocks noGrp="1"/>
          </p:cNvSpPr>
          <p:nvPr>
            <p:ph idx="1"/>
          </p:nvPr>
        </p:nvSpPr>
        <p:spPr/>
        <p:txBody>
          <a:bodyPr>
            <a:normAutofit lnSpcReduction="10000"/>
          </a:bodyPr>
          <a:lstStyle/>
          <a:p>
            <a:r>
              <a:rPr lang="es-419" dirty="0"/>
              <a:t>High </a:t>
            </a:r>
            <a:r>
              <a:rPr lang="es-419" dirty="0" err="1"/>
              <a:t>Availability</a:t>
            </a:r>
            <a:endParaRPr lang="es-419" dirty="0"/>
          </a:p>
          <a:p>
            <a:r>
              <a:rPr lang="es-419" dirty="0" err="1"/>
              <a:t>Lightweight</a:t>
            </a:r>
            <a:r>
              <a:rPr lang="es-419" dirty="0"/>
              <a:t> </a:t>
            </a:r>
            <a:r>
              <a:rPr lang="es-419" dirty="0" err="1"/>
              <a:t>Operating</a:t>
            </a:r>
            <a:r>
              <a:rPr lang="es-419" dirty="0"/>
              <a:t> </a:t>
            </a:r>
            <a:r>
              <a:rPr lang="es-419" dirty="0" err="1"/>
              <a:t>System</a:t>
            </a:r>
            <a:endParaRPr lang="es-419" dirty="0"/>
          </a:p>
          <a:p>
            <a:r>
              <a:rPr lang="es-419" dirty="0"/>
              <a:t>Load </a:t>
            </a:r>
            <a:r>
              <a:rPr lang="es-419" dirty="0" err="1"/>
              <a:t>Balancing</a:t>
            </a:r>
            <a:endParaRPr lang="es-419" dirty="0"/>
          </a:p>
          <a:p>
            <a:r>
              <a:rPr lang="es-419" dirty="0" err="1"/>
              <a:t>Automatic</a:t>
            </a:r>
            <a:r>
              <a:rPr lang="es-419" dirty="0"/>
              <a:t> </a:t>
            </a:r>
            <a:r>
              <a:rPr lang="es-419" dirty="0" err="1"/>
              <a:t>Scaling</a:t>
            </a:r>
            <a:r>
              <a:rPr lang="es-419" dirty="0"/>
              <a:t>*</a:t>
            </a:r>
          </a:p>
          <a:p>
            <a:r>
              <a:rPr lang="es-419" dirty="0" err="1"/>
              <a:t>Logging</a:t>
            </a:r>
            <a:r>
              <a:rPr lang="es-419" dirty="0"/>
              <a:t> and </a:t>
            </a:r>
            <a:r>
              <a:rPr lang="es-419" dirty="0" err="1"/>
              <a:t>Monitoring</a:t>
            </a:r>
            <a:endParaRPr lang="es-419" dirty="0"/>
          </a:p>
          <a:p>
            <a:r>
              <a:rPr lang="es-419" dirty="0" err="1"/>
              <a:t>Services</a:t>
            </a:r>
            <a:r>
              <a:rPr lang="es-419" dirty="0"/>
              <a:t> Discovery</a:t>
            </a:r>
          </a:p>
          <a:p>
            <a:r>
              <a:rPr lang="es-419" dirty="0"/>
              <a:t>Storage</a:t>
            </a:r>
          </a:p>
          <a:p>
            <a:r>
              <a:rPr lang="es-419" dirty="0" err="1"/>
              <a:t>Application</a:t>
            </a:r>
            <a:r>
              <a:rPr lang="es-419" dirty="0"/>
              <a:t> Management</a:t>
            </a:r>
          </a:p>
          <a:p>
            <a:r>
              <a:rPr lang="es-419" dirty="0" err="1"/>
              <a:t>Cluster</a:t>
            </a:r>
            <a:r>
              <a:rPr lang="es-419" dirty="0"/>
              <a:t> </a:t>
            </a:r>
            <a:r>
              <a:rPr lang="es-419" dirty="0" err="1"/>
              <a:t>Extensibility</a:t>
            </a:r>
            <a:endParaRPr lang="en-US" dirty="0"/>
          </a:p>
        </p:txBody>
      </p:sp>
    </p:spTree>
    <p:extLst>
      <p:ext uri="{BB962C8B-B14F-4D97-AF65-F5344CB8AC3E}">
        <p14:creationId xmlns:p14="http://schemas.microsoft.com/office/powerpoint/2010/main" val="27483771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35A3B-092F-4A3E-A457-1F45FB719E86}"/>
              </a:ext>
            </a:extLst>
          </p:cNvPr>
          <p:cNvSpPr>
            <a:spLocks noGrp="1"/>
          </p:cNvSpPr>
          <p:nvPr>
            <p:ph type="title"/>
          </p:nvPr>
        </p:nvSpPr>
        <p:spPr/>
        <p:txBody>
          <a:bodyPr/>
          <a:lstStyle/>
          <a:p>
            <a:r>
              <a:rPr lang="es-419" dirty="0" err="1"/>
              <a:t>OpenShift</a:t>
            </a:r>
            <a:r>
              <a:rPr lang="es-419" dirty="0"/>
              <a:t> Container </a:t>
            </a:r>
            <a:r>
              <a:rPr lang="es-419" dirty="0" err="1"/>
              <a:t>Platform</a:t>
            </a:r>
            <a:r>
              <a:rPr lang="es-419" dirty="0"/>
              <a:t> </a:t>
            </a:r>
            <a:r>
              <a:rPr lang="es-419" dirty="0" err="1"/>
              <a:t>Stack</a:t>
            </a:r>
            <a:endParaRPr lang="en-US" dirty="0"/>
          </a:p>
        </p:txBody>
      </p:sp>
      <p:pic>
        <p:nvPicPr>
          <p:cNvPr id="4" name="Picture 3">
            <a:extLst>
              <a:ext uri="{FF2B5EF4-FFF2-40B4-BE49-F238E27FC236}">
                <a16:creationId xmlns:a16="http://schemas.microsoft.com/office/drawing/2014/main" id="{AC741A2A-566A-472F-BDFC-07127530DDC3}"/>
              </a:ext>
            </a:extLst>
          </p:cNvPr>
          <p:cNvPicPr>
            <a:picLocks noChangeAspect="1"/>
          </p:cNvPicPr>
          <p:nvPr/>
        </p:nvPicPr>
        <p:blipFill>
          <a:blip r:embed="rId2"/>
          <a:stretch>
            <a:fillRect/>
          </a:stretch>
        </p:blipFill>
        <p:spPr>
          <a:xfrm>
            <a:off x="2807882" y="1690688"/>
            <a:ext cx="6576235" cy="4012727"/>
          </a:xfrm>
          <a:prstGeom prst="rect">
            <a:avLst/>
          </a:prstGeom>
        </p:spPr>
      </p:pic>
    </p:spTree>
    <p:extLst>
      <p:ext uri="{BB962C8B-B14F-4D97-AF65-F5344CB8AC3E}">
        <p14:creationId xmlns:p14="http://schemas.microsoft.com/office/powerpoint/2010/main" val="20968590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00C15-E246-4895-A585-0A77DCB44F9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07B7931-C2D2-43E0-88BA-2D11FE482EE4}"/>
              </a:ext>
            </a:extLst>
          </p:cNvPr>
          <p:cNvSpPr>
            <a:spLocks noGrp="1"/>
          </p:cNvSpPr>
          <p:nvPr>
            <p:ph idx="1"/>
          </p:nvPr>
        </p:nvSpPr>
        <p:spPr/>
        <p:txBody>
          <a:bodyPr/>
          <a:lstStyle/>
          <a:p>
            <a:r>
              <a:rPr lang="es-419" dirty="0"/>
              <a:t>SO base es Red </a:t>
            </a:r>
            <a:r>
              <a:rPr lang="es-419" dirty="0" err="1"/>
              <a:t>Hat</a:t>
            </a:r>
            <a:r>
              <a:rPr lang="es-419" dirty="0"/>
              <a:t> CoreOS</a:t>
            </a:r>
          </a:p>
          <a:p>
            <a:r>
              <a:rPr lang="es-419" dirty="0"/>
              <a:t>CRI-O</a:t>
            </a:r>
          </a:p>
          <a:p>
            <a:r>
              <a:rPr lang="es-419" dirty="0" err="1"/>
              <a:t>Kubernetes</a:t>
            </a:r>
            <a:endParaRPr lang="es-419" dirty="0"/>
          </a:p>
          <a:p>
            <a:r>
              <a:rPr lang="es-419" dirty="0" err="1"/>
              <a:t>Etcd</a:t>
            </a:r>
            <a:endParaRPr lang="es-419" dirty="0"/>
          </a:p>
          <a:p>
            <a:r>
              <a:rPr lang="es-419" dirty="0" err="1"/>
              <a:t>Custom</a:t>
            </a:r>
            <a:r>
              <a:rPr lang="es-419" dirty="0"/>
              <a:t> </a:t>
            </a:r>
            <a:r>
              <a:rPr lang="es-419" dirty="0" err="1"/>
              <a:t>Resource</a:t>
            </a:r>
            <a:r>
              <a:rPr lang="es-419" dirty="0"/>
              <a:t> </a:t>
            </a:r>
            <a:r>
              <a:rPr lang="es-419" dirty="0" err="1"/>
              <a:t>Definitions</a:t>
            </a:r>
            <a:r>
              <a:rPr lang="es-419" dirty="0"/>
              <a:t> (</a:t>
            </a:r>
            <a:r>
              <a:rPr lang="es-419" dirty="0" err="1"/>
              <a:t>CRDs</a:t>
            </a:r>
            <a:r>
              <a:rPr lang="es-419" dirty="0"/>
              <a:t>)</a:t>
            </a:r>
          </a:p>
          <a:p>
            <a:r>
              <a:rPr lang="es-419" dirty="0" err="1"/>
              <a:t>Containerized</a:t>
            </a:r>
            <a:r>
              <a:rPr lang="es-419" dirty="0"/>
              <a:t> </a:t>
            </a:r>
            <a:r>
              <a:rPr lang="es-419" dirty="0" err="1"/>
              <a:t>Services</a:t>
            </a:r>
            <a:endParaRPr lang="es-419" dirty="0"/>
          </a:p>
          <a:p>
            <a:r>
              <a:rPr lang="es-419" dirty="0" err="1"/>
              <a:t>Runtimes</a:t>
            </a:r>
            <a:r>
              <a:rPr lang="es-419" dirty="0"/>
              <a:t> and </a:t>
            </a:r>
            <a:r>
              <a:rPr lang="es-419" dirty="0" err="1"/>
              <a:t>xPaaS</a:t>
            </a:r>
            <a:endParaRPr lang="es-419" dirty="0"/>
          </a:p>
          <a:p>
            <a:r>
              <a:rPr lang="es-419" dirty="0"/>
              <a:t>DevOps Tools and </a:t>
            </a:r>
            <a:r>
              <a:rPr lang="es-419" dirty="0" err="1"/>
              <a:t>User</a:t>
            </a:r>
            <a:r>
              <a:rPr lang="es-419" dirty="0"/>
              <a:t> </a:t>
            </a:r>
            <a:r>
              <a:rPr lang="es-419" dirty="0" err="1"/>
              <a:t>Experience</a:t>
            </a:r>
            <a:endParaRPr lang="es-419" dirty="0"/>
          </a:p>
          <a:p>
            <a:endParaRPr lang="en-US" dirty="0"/>
          </a:p>
        </p:txBody>
      </p:sp>
    </p:spTree>
    <p:extLst>
      <p:ext uri="{BB962C8B-B14F-4D97-AF65-F5344CB8AC3E}">
        <p14:creationId xmlns:p14="http://schemas.microsoft.com/office/powerpoint/2010/main" val="7553407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16CFA7-F6A9-4A03-AACB-B3468804524F}"/>
              </a:ext>
            </a:extLst>
          </p:cNvPr>
          <p:cNvSpPr>
            <a:spLocks noGrp="1"/>
          </p:cNvSpPr>
          <p:nvPr>
            <p:ph type="title"/>
          </p:nvPr>
        </p:nvSpPr>
        <p:spPr/>
        <p:txBody>
          <a:bodyPr/>
          <a:lstStyle/>
          <a:p>
            <a:r>
              <a:rPr lang="es-419" dirty="0" err="1"/>
              <a:t>Operators</a:t>
            </a:r>
            <a:endParaRPr lang="en-US" dirty="0"/>
          </a:p>
        </p:txBody>
      </p:sp>
      <p:sp>
        <p:nvSpPr>
          <p:cNvPr id="3" name="Content Placeholder 2">
            <a:extLst>
              <a:ext uri="{FF2B5EF4-FFF2-40B4-BE49-F238E27FC236}">
                <a16:creationId xmlns:a16="http://schemas.microsoft.com/office/drawing/2014/main" id="{C3E79E3D-86A5-402A-A0AF-D32E8EDD0287}"/>
              </a:ext>
            </a:extLst>
          </p:cNvPr>
          <p:cNvSpPr>
            <a:spLocks noGrp="1"/>
          </p:cNvSpPr>
          <p:nvPr>
            <p:ph idx="1"/>
          </p:nvPr>
        </p:nvSpPr>
        <p:spPr/>
        <p:txBody>
          <a:bodyPr/>
          <a:lstStyle/>
          <a:p>
            <a:pPr marL="0" indent="0">
              <a:buNone/>
            </a:pPr>
            <a:r>
              <a:rPr lang="es-ES" dirty="0"/>
              <a:t>Un </a:t>
            </a:r>
            <a:r>
              <a:rPr lang="es-ES" b="1" dirty="0" err="1"/>
              <a:t>operator</a:t>
            </a:r>
            <a:r>
              <a:rPr lang="es-ES" dirty="0"/>
              <a:t> es un método de empaquetar, implementar y administrar una aplicación </a:t>
            </a:r>
            <a:r>
              <a:rPr lang="es-ES" dirty="0" err="1"/>
              <a:t>Kubernetes</a:t>
            </a:r>
            <a:r>
              <a:rPr lang="es-ES" dirty="0"/>
              <a:t>. Una aplicación de </a:t>
            </a:r>
            <a:r>
              <a:rPr lang="es-ES" dirty="0" err="1"/>
              <a:t>Kubernetes</a:t>
            </a:r>
            <a:r>
              <a:rPr lang="es-ES" dirty="0"/>
              <a:t> es una aplicación que se implementa en </a:t>
            </a:r>
            <a:r>
              <a:rPr lang="es-ES" dirty="0" err="1"/>
              <a:t>Kubernetes</a:t>
            </a:r>
            <a:r>
              <a:rPr lang="es-ES" dirty="0"/>
              <a:t> y se administra mediante las API de </a:t>
            </a:r>
            <a:r>
              <a:rPr lang="es-ES" dirty="0" err="1"/>
              <a:t>Kubernetes</a:t>
            </a:r>
            <a:r>
              <a:rPr lang="es-ES" dirty="0"/>
              <a:t> y las herramientas de </a:t>
            </a:r>
            <a:r>
              <a:rPr lang="es-ES" dirty="0" err="1"/>
              <a:t>kubectl</a:t>
            </a:r>
            <a:r>
              <a:rPr lang="es-ES" dirty="0"/>
              <a:t>.</a:t>
            </a:r>
          </a:p>
          <a:p>
            <a:pPr marL="0" indent="0">
              <a:buNone/>
            </a:pPr>
            <a:endParaRPr lang="es-ES" dirty="0"/>
          </a:p>
          <a:p>
            <a:pPr marL="0" indent="0">
              <a:buNone/>
            </a:pPr>
            <a:r>
              <a:rPr lang="es-ES" dirty="0"/>
              <a:t>Para poder aprovechar al máximo </a:t>
            </a:r>
            <a:r>
              <a:rPr lang="es-ES" dirty="0" err="1"/>
              <a:t>Kubernetes</a:t>
            </a:r>
            <a:r>
              <a:rPr lang="es-ES" dirty="0"/>
              <a:t>, necesita un conjunto de API cohesivas que se extiendan para dar servicio y administrar sus aplicaciones que se ejecutan en </a:t>
            </a:r>
            <a:r>
              <a:rPr lang="es-ES" dirty="0" err="1"/>
              <a:t>Kubernetes</a:t>
            </a:r>
            <a:r>
              <a:rPr lang="es-ES" dirty="0"/>
              <a:t>. Puede pensar en los operadores como el tiempo de ejecución que gestiona este tipo de aplicación en </a:t>
            </a:r>
            <a:r>
              <a:rPr lang="es-ES" dirty="0" err="1"/>
              <a:t>Kubernetes</a:t>
            </a:r>
            <a:r>
              <a:rPr lang="es-ES" dirty="0"/>
              <a:t>.</a:t>
            </a:r>
            <a:endParaRPr lang="en-US" dirty="0"/>
          </a:p>
        </p:txBody>
      </p:sp>
    </p:spTree>
    <p:extLst>
      <p:ext uri="{BB962C8B-B14F-4D97-AF65-F5344CB8AC3E}">
        <p14:creationId xmlns:p14="http://schemas.microsoft.com/office/powerpoint/2010/main" val="20146346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33708-67F9-46B9-A475-85B29EA27CBA}"/>
              </a:ext>
            </a:extLst>
          </p:cNvPr>
          <p:cNvSpPr>
            <a:spLocks noGrp="1"/>
          </p:cNvSpPr>
          <p:nvPr>
            <p:ph type="title"/>
          </p:nvPr>
        </p:nvSpPr>
        <p:spPr/>
        <p:txBody>
          <a:bodyPr/>
          <a:lstStyle/>
          <a:p>
            <a:r>
              <a:rPr lang="es-419" dirty="0" err="1"/>
              <a:t>The</a:t>
            </a:r>
            <a:r>
              <a:rPr lang="es-419" dirty="0"/>
              <a:t> </a:t>
            </a:r>
            <a:r>
              <a:rPr lang="es-419" dirty="0" err="1"/>
              <a:t>Operator</a:t>
            </a:r>
            <a:r>
              <a:rPr lang="es-419" dirty="0"/>
              <a:t> Framework</a:t>
            </a:r>
            <a:endParaRPr lang="en-US" dirty="0"/>
          </a:p>
        </p:txBody>
      </p:sp>
      <p:sp>
        <p:nvSpPr>
          <p:cNvPr id="3" name="Content Placeholder 2">
            <a:extLst>
              <a:ext uri="{FF2B5EF4-FFF2-40B4-BE49-F238E27FC236}">
                <a16:creationId xmlns:a16="http://schemas.microsoft.com/office/drawing/2014/main" id="{DD8BF5A8-0382-4969-A51F-7FB67B7A64BF}"/>
              </a:ext>
            </a:extLst>
          </p:cNvPr>
          <p:cNvSpPr>
            <a:spLocks noGrp="1"/>
          </p:cNvSpPr>
          <p:nvPr>
            <p:ph idx="1"/>
          </p:nvPr>
        </p:nvSpPr>
        <p:spPr/>
        <p:txBody>
          <a:bodyPr/>
          <a:lstStyle/>
          <a:p>
            <a:pPr marL="0" indent="0">
              <a:buNone/>
            </a:pPr>
            <a:r>
              <a:rPr lang="es-ES" dirty="0" err="1"/>
              <a:t>Operator</a:t>
            </a:r>
            <a:r>
              <a:rPr lang="es-ES" dirty="0"/>
              <a:t> Framework es un proyecto de código abierto que proporciona herramientas </a:t>
            </a:r>
            <a:r>
              <a:rPr lang="es-ES" dirty="0" err="1"/>
              <a:t>Kubernetes</a:t>
            </a:r>
            <a:r>
              <a:rPr lang="es-ES" dirty="0"/>
              <a:t> de desarrollador y tiempo de ejecución, lo que le permite acelerar el desarrollo de un operador. El marco del operador incluye:</a:t>
            </a:r>
          </a:p>
          <a:p>
            <a:pPr marL="0" indent="0">
              <a:buNone/>
            </a:pPr>
            <a:endParaRPr lang="en-US" dirty="0"/>
          </a:p>
        </p:txBody>
      </p:sp>
      <p:pic>
        <p:nvPicPr>
          <p:cNvPr id="4" name="Picture 3">
            <a:extLst>
              <a:ext uri="{FF2B5EF4-FFF2-40B4-BE49-F238E27FC236}">
                <a16:creationId xmlns:a16="http://schemas.microsoft.com/office/drawing/2014/main" id="{675D515B-E9E1-45EE-ADCA-E508FE2CF724}"/>
              </a:ext>
            </a:extLst>
          </p:cNvPr>
          <p:cNvPicPr>
            <a:picLocks noChangeAspect="1"/>
          </p:cNvPicPr>
          <p:nvPr/>
        </p:nvPicPr>
        <p:blipFill>
          <a:blip r:embed="rId2"/>
          <a:stretch>
            <a:fillRect/>
          </a:stretch>
        </p:blipFill>
        <p:spPr>
          <a:xfrm>
            <a:off x="1624177" y="3755150"/>
            <a:ext cx="2343150" cy="819150"/>
          </a:xfrm>
          <a:prstGeom prst="rect">
            <a:avLst/>
          </a:prstGeom>
        </p:spPr>
      </p:pic>
      <p:pic>
        <p:nvPicPr>
          <p:cNvPr id="5" name="Picture 4">
            <a:extLst>
              <a:ext uri="{FF2B5EF4-FFF2-40B4-BE49-F238E27FC236}">
                <a16:creationId xmlns:a16="http://schemas.microsoft.com/office/drawing/2014/main" id="{34B67208-43E0-431F-A008-1ED9DB4C4C3B}"/>
              </a:ext>
            </a:extLst>
          </p:cNvPr>
          <p:cNvPicPr>
            <a:picLocks noChangeAspect="1"/>
          </p:cNvPicPr>
          <p:nvPr/>
        </p:nvPicPr>
        <p:blipFill>
          <a:blip r:embed="rId3"/>
          <a:stretch>
            <a:fillRect/>
          </a:stretch>
        </p:blipFill>
        <p:spPr>
          <a:xfrm>
            <a:off x="1624177" y="4709237"/>
            <a:ext cx="3562350" cy="819150"/>
          </a:xfrm>
          <a:prstGeom prst="rect">
            <a:avLst/>
          </a:prstGeom>
        </p:spPr>
      </p:pic>
    </p:spTree>
    <p:extLst>
      <p:ext uri="{BB962C8B-B14F-4D97-AF65-F5344CB8AC3E}">
        <p14:creationId xmlns:p14="http://schemas.microsoft.com/office/powerpoint/2010/main" val="29370562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AC62D2-577D-42B2-9193-197A4ADBFDFB}"/>
              </a:ext>
            </a:extLst>
          </p:cNvPr>
          <p:cNvSpPr>
            <a:spLocks noGrp="1"/>
          </p:cNvSpPr>
          <p:nvPr>
            <p:ph type="title"/>
          </p:nvPr>
        </p:nvSpPr>
        <p:spPr/>
        <p:txBody>
          <a:bodyPr/>
          <a:lstStyle/>
          <a:p>
            <a:r>
              <a:rPr lang="es-419" dirty="0"/>
              <a:t>Nuevas </a:t>
            </a:r>
            <a:r>
              <a:rPr lang="es-419" dirty="0" err="1"/>
              <a:t>Caracteristicas</a:t>
            </a:r>
            <a:r>
              <a:rPr lang="es-419" dirty="0"/>
              <a:t> en RHOCP 4</a:t>
            </a:r>
            <a:endParaRPr lang="en-US" dirty="0"/>
          </a:p>
        </p:txBody>
      </p:sp>
      <p:sp>
        <p:nvSpPr>
          <p:cNvPr id="3" name="Content Placeholder 2">
            <a:extLst>
              <a:ext uri="{FF2B5EF4-FFF2-40B4-BE49-F238E27FC236}">
                <a16:creationId xmlns:a16="http://schemas.microsoft.com/office/drawing/2014/main" id="{862F9B09-F12D-4164-A5EF-90A5B6DCB32C}"/>
              </a:ext>
            </a:extLst>
          </p:cNvPr>
          <p:cNvSpPr>
            <a:spLocks noGrp="1"/>
          </p:cNvSpPr>
          <p:nvPr>
            <p:ph idx="1"/>
          </p:nvPr>
        </p:nvSpPr>
        <p:spPr/>
        <p:txBody>
          <a:bodyPr/>
          <a:lstStyle/>
          <a:p>
            <a:r>
              <a:rPr lang="es-419" dirty="0"/>
              <a:t>CoreOS como SO mandatorio para todos los nodos*</a:t>
            </a:r>
          </a:p>
          <a:p>
            <a:r>
              <a:rPr lang="es-419" dirty="0"/>
              <a:t>Nueva forma de instalación.</a:t>
            </a:r>
          </a:p>
          <a:p>
            <a:r>
              <a:rPr lang="es-419" dirty="0"/>
              <a:t>Una plataforma </a:t>
            </a:r>
            <a:r>
              <a:rPr lang="es-419" dirty="0" err="1"/>
              <a:t>auto-administrada</a:t>
            </a:r>
            <a:r>
              <a:rPr lang="es-419" dirty="0"/>
              <a:t>.</a:t>
            </a:r>
          </a:p>
          <a:p>
            <a:r>
              <a:rPr lang="es-419" dirty="0"/>
              <a:t>El </a:t>
            </a:r>
            <a:r>
              <a:rPr lang="es-419" dirty="0" err="1"/>
              <a:t>OperatorSDK</a:t>
            </a:r>
            <a:r>
              <a:rPr lang="es-419" dirty="0"/>
              <a:t> para crear, probar y empaquetar Operadores.</a:t>
            </a:r>
            <a:endParaRPr lang="en-US" dirty="0"/>
          </a:p>
        </p:txBody>
      </p:sp>
    </p:spTree>
    <p:extLst>
      <p:ext uri="{BB962C8B-B14F-4D97-AF65-F5344CB8AC3E}">
        <p14:creationId xmlns:p14="http://schemas.microsoft.com/office/powerpoint/2010/main" val="52510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6EC57-1545-49EA-90A5-A552CD78B064}"/>
              </a:ext>
            </a:extLst>
          </p:cNvPr>
          <p:cNvSpPr>
            <a:spLocks noGrp="1"/>
          </p:cNvSpPr>
          <p:nvPr>
            <p:ph type="title"/>
          </p:nvPr>
        </p:nvSpPr>
        <p:spPr/>
        <p:txBody>
          <a:bodyPr/>
          <a:lstStyle/>
          <a:p>
            <a:r>
              <a:rPr lang="es-419" dirty="0"/>
              <a:t>Instalación</a:t>
            </a:r>
            <a:endParaRPr lang="en-US" dirty="0"/>
          </a:p>
        </p:txBody>
      </p:sp>
      <p:sp>
        <p:nvSpPr>
          <p:cNvPr id="3" name="Content Placeholder 2">
            <a:extLst>
              <a:ext uri="{FF2B5EF4-FFF2-40B4-BE49-F238E27FC236}">
                <a16:creationId xmlns:a16="http://schemas.microsoft.com/office/drawing/2014/main" id="{9F3121DE-B880-431C-BCDD-7DBE5710FCD9}"/>
              </a:ext>
            </a:extLst>
          </p:cNvPr>
          <p:cNvSpPr>
            <a:spLocks noGrp="1"/>
          </p:cNvSpPr>
          <p:nvPr>
            <p:ph idx="1"/>
          </p:nvPr>
        </p:nvSpPr>
        <p:spPr/>
        <p:txBody>
          <a:bodyPr/>
          <a:lstStyle/>
          <a:p>
            <a:r>
              <a:rPr lang="es-419" dirty="0"/>
              <a:t>Existen dos tipos de instalación:</a:t>
            </a:r>
          </a:p>
          <a:p>
            <a:endParaRPr lang="es-419" dirty="0"/>
          </a:p>
          <a:p>
            <a:r>
              <a:rPr lang="es-419" dirty="0" err="1"/>
              <a:t>Installer</a:t>
            </a:r>
            <a:r>
              <a:rPr lang="es-419" dirty="0"/>
              <a:t> </a:t>
            </a:r>
            <a:r>
              <a:rPr lang="es-419" dirty="0" err="1"/>
              <a:t>Provisioned</a:t>
            </a:r>
            <a:r>
              <a:rPr lang="es-419" dirty="0"/>
              <a:t> </a:t>
            </a:r>
            <a:r>
              <a:rPr lang="es-419" dirty="0" err="1"/>
              <a:t>Infrastructure</a:t>
            </a:r>
            <a:r>
              <a:rPr lang="es-419" dirty="0"/>
              <a:t> (IPI)</a:t>
            </a:r>
          </a:p>
          <a:p>
            <a:r>
              <a:rPr lang="es-419" dirty="0" err="1"/>
              <a:t>User</a:t>
            </a:r>
            <a:r>
              <a:rPr lang="es-419" dirty="0"/>
              <a:t> </a:t>
            </a:r>
            <a:r>
              <a:rPr lang="es-419" dirty="0" err="1"/>
              <a:t>Provisioned</a:t>
            </a:r>
            <a:r>
              <a:rPr lang="es-419" dirty="0"/>
              <a:t> </a:t>
            </a:r>
            <a:r>
              <a:rPr lang="es-419" dirty="0" err="1"/>
              <a:t>Infrastructure</a:t>
            </a:r>
            <a:r>
              <a:rPr lang="es-419" dirty="0"/>
              <a:t> (UPI)</a:t>
            </a:r>
            <a:endParaRPr lang="en-US" dirty="0"/>
          </a:p>
        </p:txBody>
      </p:sp>
    </p:spTree>
    <p:extLst>
      <p:ext uri="{BB962C8B-B14F-4D97-AF65-F5344CB8AC3E}">
        <p14:creationId xmlns:p14="http://schemas.microsoft.com/office/powerpoint/2010/main" val="4038978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A8729-12EC-481E-9210-65E8F62EA022}"/>
              </a:ext>
            </a:extLst>
          </p:cNvPr>
          <p:cNvSpPr>
            <a:spLocks noGrp="1"/>
          </p:cNvSpPr>
          <p:nvPr>
            <p:ph type="title"/>
          </p:nvPr>
        </p:nvSpPr>
        <p:spPr/>
        <p:txBody>
          <a:bodyPr/>
          <a:lstStyle/>
          <a:p>
            <a:r>
              <a:rPr lang="es-419" dirty="0"/>
              <a:t>Soporte para IPI</a:t>
            </a:r>
            <a:endParaRPr lang="en-US" dirty="0"/>
          </a:p>
        </p:txBody>
      </p:sp>
      <p:pic>
        <p:nvPicPr>
          <p:cNvPr id="4" name="Picture 3">
            <a:extLst>
              <a:ext uri="{FF2B5EF4-FFF2-40B4-BE49-F238E27FC236}">
                <a16:creationId xmlns:a16="http://schemas.microsoft.com/office/drawing/2014/main" id="{39DC1BD5-EE2A-47F3-8153-8419BFF8CBC1}"/>
              </a:ext>
            </a:extLst>
          </p:cNvPr>
          <p:cNvPicPr>
            <a:picLocks noChangeAspect="1"/>
          </p:cNvPicPr>
          <p:nvPr/>
        </p:nvPicPr>
        <p:blipFill>
          <a:blip r:embed="rId2"/>
          <a:stretch>
            <a:fillRect/>
          </a:stretch>
        </p:blipFill>
        <p:spPr>
          <a:xfrm>
            <a:off x="1319962" y="1986619"/>
            <a:ext cx="9552075" cy="3867643"/>
          </a:xfrm>
          <a:prstGeom prst="rect">
            <a:avLst/>
          </a:prstGeom>
        </p:spPr>
      </p:pic>
    </p:spTree>
    <p:extLst>
      <p:ext uri="{BB962C8B-B14F-4D97-AF65-F5344CB8AC3E}">
        <p14:creationId xmlns:p14="http://schemas.microsoft.com/office/powerpoint/2010/main" val="16371677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2AE270-5FD1-4BC6-AA22-AD459F0EEBEF}"/>
              </a:ext>
            </a:extLst>
          </p:cNvPr>
          <p:cNvSpPr>
            <a:spLocks noGrp="1"/>
          </p:cNvSpPr>
          <p:nvPr>
            <p:ph type="title"/>
          </p:nvPr>
        </p:nvSpPr>
        <p:spPr/>
        <p:txBody>
          <a:bodyPr/>
          <a:lstStyle/>
          <a:p>
            <a:r>
              <a:rPr lang="es-419" dirty="0"/>
              <a:t>Soporte para UPI</a:t>
            </a:r>
            <a:endParaRPr lang="en-US" dirty="0"/>
          </a:p>
        </p:txBody>
      </p:sp>
      <p:pic>
        <p:nvPicPr>
          <p:cNvPr id="4" name="Picture 3">
            <a:extLst>
              <a:ext uri="{FF2B5EF4-FFF2-40B4-BE49-F238E27FC236}">
                <a16:creationId xmlns:a16="http://schemas.microsoft.com/office/drawing/2014/main" id="{12CA53D4-5121-4B9D-9B2F-094BE756992F}"/>
              </a:ext>
            </a:extLst>
          </p:cNvPr>
          <p:cNvPicPr>
            <a:picLocks noChangeAspect="1"/>
          </p:cNvPicPr>
          <p:nvPr/>
        </p:nvPicPr>
        <p:blipFill>
          <a:blip r:embed="rId2"/>
          <a:stretch>
            <a:fillRect/>
          </a:stretch>
        </p:blipFill>
        <p:spPr>
          <a:xfrm>
            <a:off x="1228807" y="2329870"/>
            <a:ext cx="9734386" cy="2529316"/>
          </a:xfrm>
          <a:prstGeom prst="rect">
            <a:avLst/>
          </a:prstGeom>
        </p:spPr>
      </p:pic>
    </p:spTree>
    <p:extLst>
      <p:ext uri="{BB962C8B-B14F-4D97-AF65-F5344CB8AC3E}">
        <p14:creationId xmlns:p14="http://schemas.microsoft.com/office/powerpoint/2010/main" val="19487405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7ADD643D-8B6C-4041-BBDF-E1BAB6F713CB}"/>
              </a:ext>
            </a:extLst>
          </p:cNvPr>
          <p:cNvSpPr/>
          <p:nvPr/>
        </p:nvSpPr>
        <p:spPr>
          <a:xfrm>
            <a:off x="2877424" y="671119"/>
            <a:ext cx="9102055" cy="6014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8298AD06-ED60-42E7-8A22-D1C7AB06F593}"/>
              </a:ext>
            </a:extLst>
          </p:cNvPr>
          <p:cNvSpPr/>
          <p:nvPr/>
        </p:nvSpPr>
        <p:spPr>
          <a:xfrm>
            <a:off x="4991449" y="1468073"/>
            <a:ext cx="6618914" cy="4790114"/>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39720A44-925B-4775-B843-4E7A16365AC3}"/>
              </a:ext>
            </a:extLst>
          </p:cNvPr>
          <p:cNvSpPr/>
          <p:nvPr/>
        </p:nvSpPr>
        <p:spPr>
          <a:xfrm>
            <a:off x="7329181" y="2122414"/>
            <a:ext cx="631971" cy="61239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Calibri" panose="020F0502020204030204"/>
                <a:ea typeface="+mn-ea"/>
                <a:cs typeface="+mn-cs"/>
              </a:rPr>
              <a:t>VM</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7" name="Rectangle 6">
            <a:extLst>
              <a:ext uri="{FF2B5EF4-FFF2-40B4-BE49-F238E27FC236}">
                <a16:creationId xmlns:a16="http://schemas.microsoft.com/office/drawing/2014/main" id="{113D41FB-9ED7-43DA-A1BC-CA1D6ADAAB91}"/>
              </a:ext>
            </a:extLst>
          </p:cNvPr>
          <p:cNvSpPr/>
          <p:nvPr/>
        </p:nvSpPr>
        <p:spPr>
          <a:xfrm>
            <a:off x="8774531" y="2122414"/>
            <a:ext cx="631971" cy="61239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Calibri" panose="020F0502020204030204"/>
                <a:ea typeface="+mn-ea"/>
                <a:cs typeface="+mn-cs"/>
              </a:rPr>
              <a:t>VM</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Rectangle 7">
            <a:extLst>
              <a:ext uri="{FF2B5EF4-FFF2-40B4-BE49-F238E27FC236}">
                <a16:creationId xmlns:a16="http://schemas.microsoft.com/office/drawing/2014/main" id="{1A9FCC6D-349D-4400-AECE-6E5F78836878}"/>
              </a:ext>
            </a:extLst>
          </p:cNvPr>
          <p:cNvSpPr/>
          <p:nvPr/>
        </p:nvSpPr>
        <p:spPr>
          <a:xfrm>
            <a:off x="10151203" y="2114563"/>
            <a:ext cx="631971" cy="61239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Calibri" panose="020F0502020204030204"/>
                <a:ea typeface="+mn-ea"/>
                <a:cs typeface="+mn-cs"/>
              </a:rPr>
              <a:t>VM</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D2CAABC-A684-490E-BB9E-3197EDFBF727}"/>
              </a:ext>
            </a:extLst>
          </p:cNvPr>
          <p:cNvSpPr/>
          <p:nvPr/>
        </p:nvSpPr>
        <p:spPr>
          <a:xfrm>
            <a:off x="7842305" y="4497897"/>
            <a:ext cx="631971" cy="612396"/>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Calibri" panose="020F0502020204030204"/>
                <a:ea typeface="+mn-ea"/>
                <a:cs typeface="+mn-cs"/>
              </a:rPr>
              <a:t>VM</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BB5B255B-4590-4A42-96F9-F887243193BB}"/>
              </a:ext>
            </a:extLst>
          </p:cNvPr>
          <p:cNvSpPr/>
          <p:nvPr/>
        </p:nvSpPr>
        <p:spPr>
          <a:xfrm>
            <a:off x="9768279" y="4497897"/>
            <a:ext cx="631971" cy="612396"/>
          </a:xfrm>
          <a:prstGeom prst="rect">
            <a:avLst/>
          </a:prstGeom>
          <a:solidFill>
            <a:schemeClr val="bg2">
              <a:lumMod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Calibri" panose="020F0502020204030204"/>
                <a:ea typeface="+mn-ea"/>
                <a:cs typeface="+mn-cs"/>
              </a:rPr>
              <a:t>VM</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A016E36C-F76B-484F-9D70-24CCCCA2BB06}"/>
              </a:ext>
            </a:extLst>
          </p:cNvPr>
          <p:cNvSpPr/>
          <p:nvPr/>
        </p:nvSpPr>
        <p:spPr>
          <a:xfrm>
            <a:off x="8774531" y="3244442"/>
            <a:ext cx="631971" cy="612396"/>
          </a:xfrm>
          <a:prstGeom prst="rect">
            <a:avLst/>
          </a:prstGeom>
          <a:solidFill>
            <a:schemeClr val="bg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Calibri" panose="020F0502020204030204"/>
                <a:ea typeface="+mn-ea"/>
                <a:cs typeface="+mn-cs"/>
              </a:rPr>
              <a:t>VM</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CD33B839-1E20-4A3B-BA79-C72A7146B940}"/>
              </a:ext>
            </a:extLst>
          </p:cNvPr>
          <p:cNvSpPr/>
          <p:nvPr/>
        </p:nvSpPr>
        <p:spPr>
          <a:xfrm>
            <a:off x="5796791" y="2122414"/>
            <a:ext cx="631971" cy="612396"/>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800" b="0" i="0" u="none" strike="noStrike" kern="1200" cap="none" spc="0" normalizeH="0" baseline="0" noProof="0" dirty="0">
                <a:ln>
                  <a:noFill/>
                </a:ln>
                <a:solidFill>
                  <a:prstClr val="white"/>
                </a:solidFill>
                <a:effectLst/>
                <a:uLnTx/>
                <a:uFillTx/>
                <a:latin typeface="Calibri" panose="020F0502020204030204"/>
                <a:ea typeface="+mn-ea"/>
                <a:cs typeface="+mn-cs"/>
              </a:rPr>
              <a:t>VM</a:t>
            </a: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0E8CAC04-D21A-468B-ABBA-3CC7E55F5C4D}"/>
              </a:ext>
            </a:extLst>
          </p:cNvPr>
          <p:cNvSpPr txBox="1"/>
          <p:nvPr/>
        </p:nvSpPr>
        <p:spPr>
          <a:xfrm>
            <a:off x="7618947" y="5233438"/>
            <a:ext cx="11716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200" b="1" i="0" u="none" strike="noStrike" kern="1200" cap="none" spc="0" normalizeH="0" baseline="0" noProof="0" dirty="0">
                <a:ln>
                  <a:noFill/>
                </a:ln>
                <a:solidFill>
                  <a:prstClr val="black"/>
                </a:solidFill>
                <a:effectLst/>
                <a:uLnTx/>
                <a:uFillTx/>
                <a:latin typeface="Calibri" panose="020F0502020204030204"/>
                <a:ea typeface="+mn-ea"/>
                <a:cs typeface="+mn-cs"/>
              </a:rPr>
              <a:t>ocp-compute-1</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D379D9C4-63B6-49BA-A2B7-AAB2AF67D6C2}"/>
              </a:ext>
            </a:extLst>
          </p:cNvPr>
          <p:cNvSpPr txBox="1"/>
          <p:nvPr/>
        </p:nvSpPr>
        <p:spPr>
          <a:xfrm>
            <a:off x="6874775" y="1773808"/>
            <a:ext cx="148834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200" b="1" i="0" u="none" strike="noStrike" kern="1200" cap="none" spc="0" normalizeH="0" baseline="0" noProof="0" dirty="0">
                <a:ln>
                  <a:noFill/>
                </a:ln>
                <a:solidFill>
                  <a:prstClr val="black"/>
                </a:solidFill>
                <a:effectLst/>
                <a:uLnTx/>
                <a:uFillTx/>
                <a:latin typeface="Calibri" panose="020F0502020204030204"/>
                <a:ea typeface="+mn-ea"/>
                <a:cs typeface="+mn-cs"/>
              </a:rPr>
              <a:t>ocp-control-plane-1</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18386AF9-3B3B-4973-B8B4-B901C51595FF}"/>
              </a:ext>
            </a:extLst>
          </p:cNvPr>
          <p:cNvSpPr txBox="1"/>
          <p:nvPr/>
        </p:nvSpPr>
        <p:spPr>
          <a:xfrm>
            <a:off x="9440932" y="3122854"/>
            <a:ext cx="1488344"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200" b="1" i="0" u="none" strike="noStrike" kern="1200" cap="none" spc="0" normalizeH="0" baseline="0" noProof="0" dirty="0" err="1">
                <a:ln>
                  <a:noFill/>
                </a:ln>
                <a:solidFill>
                  <a:prstClr val="black"/>
                </a:solidFill>
                <a:effectLst/>
                <a:uLnTx/>
                <a:uFillTx/>
                <a:latin typeface="Calibri" panose="020F0502020204030204"/>
                <a:ea typeface="+mn-ea"/>
                <a:cs typeface="+mn-cs"/>
              </a:rPr>
              <a:t>ocp-bastion</a:t>
            </a:r>
            <a:endParaRPr kumimoji="0" lang="es-419" sz="12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200" b="1" i="0" u="none" strike="noStrike" kern="1200" cap="none" spc="0" normalizeH="0" baseline="0" noProof="0" dirty="0">
                <a:ln>
                  <a:noFill/>
                </a:ln>
                <a:solidFill>
                  <a:prstClr val="black"/>
                </a:solidFill>
                <a:effectLst/>
                <a:uLnTx/>
                <a:uFillTx/>
                <a:latin typeface="Calibri" panose="020F0502020204030204"/>
                <a:ea typeface="+mn-ea"/>
                <a:cs typeface="+mn-cs"/>
              </a:rPr>
              <a:t>DNS/LB/Web/Tools</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59BEA5B1-86E5-4C1E-931A-8173397308E1}"/>
              </a:ext>
            </a:extLst>
          </p:cNvPr>
          <p:cNvSpPr txBox="1"/>
          <p:nvPr/>
        </p:nvSpPr>
        <p:spPr>
          <a:xfrm>
            <a:off x="9565371" y="5223757"/>
            <a:ext cx="1171664"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200" b="1" i="0" u="none" strike="noStrike" kern="1200" cap="none" spc="0" normalizeH="0" baseline="0" noProof="0" dirty="0">
                <a:ln>
                  <a:noFill/>
                </a:ln>
                <a:solidFill>
                  <a:prstClr val="black"/>
                </a:solidFill>
                <a:effectLst/>
                <a:uLnTx/>
                <a:uFillTx/>
                <a:latin typeface="Calibri" panose="020F0502020204030204"/>
                <a:ea typeface="+mn-ea"/>
                <a:cs typeface="+mn-cs"/>
              </a:rPr>
              <a:t>ocp-compute-2</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6AA23B24-D4F2-4C2D-9062-4D585022CFB8}"/>
              </a:ext>
            </a:extLst>
          </p:cNvPr>
          <p:cNvSpPr txBox="1"/>
          <p:nvPr/>
        </p:nvSpPr>
        <p:spPr>
          <a:xfrm>
            <a:off x="5526943" y="1656744"/>
            <a:ext cx="1192637"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200" b="1" i="0" u="none" strike="noStrike" kern="1200" cap="none" spc="0" normalizeH="0" baseline="0" noProof="0" dirty="0" err="1">
                <a:ln>
                  <a:noFill/>
                </a:ln>
                <a:solidFill>
                  <a:prstClr val="black"/>
                </a:solidFill>
                <a:effectLst/>
                <a:uLnTx/>
                <a:uFillTx/>
                <a:latin typeface="Calibri" panose="020F0502020204030204"/>
                <a:ea typeface="+mn-ea"/>
                <a:cs typeface="+mn-cs"/>
              </a:rPr>
              <a:t>ocp-bootstrap</a:t>
            </a:r>
            <a:endParaRPr kumimoji="0" lang="es-419" sz="12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419" sz="1200" b="1" i="0" u="none" strike="noStrike" kern="1200" cap="none" spc="0" normalizeH="0" baseline="0" noProof="0" dirty="0">
                <a:ln>
                  <a:noFill/>
                </a:ln>
                <a:solidFill>
                  <a:prstClr val="black"/>
                </a:solidFill>
                <a:effectLst/>
                <a:uLnTx/>
                <a:uFillTx/>
                <a:latin typeface="Calibri" panose="020F0502020204030204"/>
                <a:ea typeface="+mn-ea"/>
                <a:cs typeface="+mn-cs"/>
              </a:rPr>
              <a:t>(temporal)</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25253EB3-BF7B-465E-A274-407B0507E424}"/>
              </a:ext>
            </a:extLst>
          </p:cNvPr>
          <p:cNvSpPr txBox="1"/>
          <p:nvPr/>
        </p:nvSpPr>
        <p:spPr>
          <a:xfrm>
            <a:off x="8346345" y="1773807"/>
            <a:ext cx="148834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200" b="1" i="0" u="none" strike="noStrike" kern="1200" cap="none" spc="0" normalizeH="0" baseline="0" noProof="0" dirty="0">
                <a:ln>
                  <a:noFill/>
                </a:ln>
                <a:solidFill>
                  <a:prstClr val="black"/>
                </a:solidFill>
                <a:effectLst/>
                <a:uLnTx/>
                <a:uFillTx/>
                <a:latin typeface="Calibri" panose="020F0502020204030204"/>
                <a:ea typeface="+mn-ea"/>
                <a:cs typeface="+mn-cs"/>
              </a:rPr>
              <a:t>ocp-control-plane-2</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7DEC998-4258-4119-8788-37C56CD74121}"/>
              </a:ext>
            </a:extLst>
          </p:cNvPr>
          <p:cNvSpPr txBox="1"/>
          <p:nvPr/>
        </p:nvSpPr>
        <p:spPr>
          <a:xfrm>
            <a:off x="9768279" y="1759158"/>
            <a:ext cx="1488345"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200" b="1" i="0" u="none" strike="noStrike" kern="1200" cap="none" spc="0" normalizeH="0" baseline="0" noProof="0" dirty="0">
                <a:ln>
                  <a:noFill/>
                </a:ln>
                <a:solidFill>
                  <a:prstClr val="black"/>
                </a:solidFill>
                <a:effectLst/>
                <a:uLnTx/>
                <a:uFillTx/>
                <a:latin typeface="Calibri" panose="020F0502020204030204"/>
                <a:ea typeface="+mn-ea"/>
                <a:cs typeface="+mn-cs"/>
              </a:rPr>
              <a:t>ocp-control-plane-3</a:t>
            </a:r>
            <a:endParaRPr kumimoji="0" lang="en-US" sz="12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3998C7F9-E753-4B28-AEC6-C8007BC7F10F}"/>
              </a:ext>
            </a:extLst>
          </p:cNvPr>
          <p:cNvSpPr txBox="1"/>
          <p:nvPr/>
        </p:nvSpPr>
        <p:spPr>
          <a:xfrm>
            <a:off x="5083728" y="5368954"/>
            <a:ext cx="2245453" cy="36911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B18B38BF-83EF-4A4A-9ED9-7778C291484A}"/>
              </a:ext>
            </a:extLst>
          </p:cNvPr>
          <p:cNvSpPr txBox="1"/>
          <p:nvPr/>
        </p:nvSpPr>
        <p:spPr>
          <a:xfrm>
            <a:off x="5142450" y="5813462"/>
            <a:ext cx="3220670"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800" b="1" i="0" u="none" strike="noStrike" kern="1200" cap="none" spc="0" normalizeH="0" baseline="0" noProof="0" dirty="0">
                <a:ln>
                  <a:noFill/>
                </a:ln>
                <a:solidFill>
                  <a:prstClr val="black"/>
                </a:solidFill>
                <a:effectLst/>
                <a:uLnTx/>
                <a:uFillTx/>
                <a:latin typeface="Calibri" panose="020F0502020204030204"/>
                <a:ea typeface="+mn-ea"/>
                <a:cs typeface="+mn-cs"/>
              </a:rPr>
              <a:t>VMware </a:t>
            </a:r>
            <a:r>
              <a:rPr kumimoji="0" lang="es-419" sz="1800" b="1" i="0" u="none" strike="noStrike" kern="1200" cap="none" spc="0" normalizeH="0" baseline="0" noProof="0" dirty="0" err="1">
                <a:ln>
                  <a:noFill/>
                </a:ln>
                <a:solidFill>
                  <a:prstClr val="black"/>
                </a:solidFill>
                <a:effectLst/>
                <a:uLnTx/>
                <a:uFillTx/>
                <a:latin typeface="Calibri" panose="020F0502020204030204"/>
                <a:ea typeface="+mn-ea"/>
                <a:cs typeface="+mn-cs"/>
              </a:rPr>
              <a:t>vCenter</a:t>
            </a:r>
            <a:r>
              <a:rPr kumimoji="0" lang="es-419" sz="1800" b="1"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s-419" sz="1800" b="1" i="0" u="none" strike="noStrike" kern="1200" cap="none" spc="0" normalizeH="0" baseline="0" noProof="0" dirty="0" err="1">
                <a:ln>
                  <a:noFill/>
                </a:ln>
                <a:solidFill>
                  <a:prstClr val="black"/>
                </a:solidFill>
                <a:effectLst/>
                <a:uLnTx/>
                <a:uFillTx/>
                <a:latin typeface="Calibri" panose="020F0502020204030204"/>
                <a:ea typeface="+mn-ea"/>
                <a:cs typeface="+mn-cs"/>
              </a:rPr>
              <a:t>Datacenter</a:t>
            </a: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5" name="Straight Arrow Connector 24">
            <a:extLst>
              <a:ext uri="{FF2B5EF4-FFF2-40B4-BE49-F238E27FC236}">
                <a16:creationId xmlns:a16="http://schemas.microsoft.com/office/drawing/2014/main" id="{C3AA6216-3133-437A-83E7-634C38097E55}"/>
              </a:ext>
            </a:extLst>
          </p:cNvPr>
          <p:cNvCxnSpPr>
            <a:stCxn id="6" idx="2"/>
            <a:endCxn id="11" idx="0"/>
          </p:cNvCxnSpPr>
          <p:nvPr/>
        </p:nvCxnSpPr>
        <p:spPr>
          <a:xfrm>
            <a:off x="7645167" y="2734810"/>
            <a:ext cx="1445350" cy="509632"/>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2A3951F6-5B3B-4AB9-9ECC-B66A52ABA9A9}"/>
              </a:ext>
            </a:extLst>
          </p:cNvPr>
          <p:cNvCxnSpPr>
            <a:stCxn id="7" idx="2"/>
          </p:cNvCxnSpPr>
          <p:nvPr/>
        </p:nvCxnSpPr>
        <p:spPr>
          <a:xfrm flipH="1">
            <a:off x="9082480" y="2734810"/>
            <a:ext cx="8037" cy="509632"/>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63969ADF-9E8D-4A06-9C94-44B712143063}"/>
              </a:ext>
            </a:extLst>
          </p:cNvPr>
          <p:cNvCxnSpPr/>
          <p:nvPr/>
        </p:nvCxnSpPr>
        <p:spPr>
          <a:xfrm flipH="1">
            <a:off x="9090516" y="2734810"/>
            <a:ext cx="1437314" cy="509632"/>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074D5AD2-B876-4F81-BC94-8B00AA84604A}"/>
              </a:ext>
            </a:extLst>
          </p:cNvPr>
          <p:cNvCxnSpPr>
            <a:stCxn id="9" idx="0"/>
            <a:endCxn id="11" idx="2"/>
          </p:cNvCxnSpPr>
          <p:nvPr/>
        </p:nvCxnSpPr>
        <p:spPr>
          <a:xfrm flipV="1">
            <a:off x="8158291" y="3856838"/>
            <a:ext cx="932226" cy="641059"/>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EB6D1687-8C9B-4F1E-AF02-2F076E8FF02F}"/>
              </a:ext>
            </a:extLst>
          </p:cNvPr>
          <p:cNvCxnSpPr>
            <a:stCxn id="10" idx="0"/>
            <a:endCxn id="11" idx="2"/>
          </p:cNvCxnSpPr>
          <p:nvPr/>
        </p:nvCxnSpPr>
        <p:spPr>
          <a:xfrm flipH="1" flipV="1">
            <a:off x="9090517" y="3856838"/>
            <a:ext cx="993748" cy="641059"/>
          </a:xfrm>
          <a:prstGeom prst="straightConnector1">
            <a:avLst/>
          </a:prstGeom>
          <a:ln w="9525">
            <a:tailEnd type="triangle"/>
          </a:ln>
        </p:spPr>
        <p:style>
          <a:lnRef idx="1">
            <a:schemeClr val="accent1"/>
          </a:lnRef>
          <a:fillRef idx="0">
            <a:schemeClr val="accent1"/>
          </a:fillRef>
          <a:effectRef idx="0">
            <a:schemeClr val="accent1"/>
          </a:effectRef>
          <a:fontRef idx="minor">
            <a:schemeClr val="tx1"/>
          </a:fontRef>
        </p:style>
      </p:cxnSp>
      <p:pic>
        <p:nvPicPr>
          <p:cNvPr id="40" name="Picture 39">
            <a:extLst>
              <a:ext uri="{FF2B5EF4-FFF2-40B4-BE49-F238E27FC236}">
                <a16:creationId xmlns:a16="http://schemas.microsoft.com/office/drawing/2014/main" id="{08B66AA7-2E70-4F36-9D63-75315CB59BB3}"/>
              </a:ext>
            </a:extLst>
          </p:cNvPr>
          <p:cNvPicPr>
            <a:picLocks noChangeAspect="1"/>
          </p:cNvPicPr>
          <p:nvPr/>
        </p:nvPicPr>
        <p:blipFill>
          <a:blip r:embed="rId3"/>
          <a:stretch>
            <a:fillRect/>
          </a:stretch>
        </p:blipFill>
        <p:spPr>
          <a:xfrm>
            <a:off x="321594" y="1264255"/>
            <a:ext cx="2062962" cy="648051"/>
          </a:xfrm>
          <a:prstGeom prst="rect">
            <a:avLst/>
          </a:prstGeom>
        </p:spPr>
      </p:pic>
      <p:pic>
        <p:nvPicPr>
          <p:cNvPr id="43" name="Picture 42" descr="A picture containing clock&#10;&#10;Description automatically generated">
            <a:extLst>
              <a:ext uri="{FF2B5EF4-FFF2-40B4-BE49-F238E27FC236}">
                <a16:creationId xmlns:a16="http://schemas.microsoft.com/office/drawing/2014/main" id="{3FDC0F67-0F86-4184-8007-58DB365F55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032127" y="3512206"/>
            <a:ext cx="509301" cy="509301"/>
          </a:xfrm>
          <a:prstGeom prst="rect">
            <a:avLst/>
          </a:prstGeom>
        </p:spPr>
      </p:pic>
      <p:pic>
        <p:nvPicPr>
          <p:cNvPr id="47" name="Picture 46" descr="A close up of a sign&#10;&#10;Description automatically generated">
            <a:extLst>
              <a:ext uri="{FF2B5EF4-FFF2-40B4-BE49-F238E27FC236}">
                <a16:creationId xmlns:a16="http://schemas.microsoft.com/office/drawing/2014/main" id="{D4BC7D81-3D58-4475-826A-C2A51E2F4B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47729" y="3584519"/>
            <a:ext cx="326197" cy="326197"/>
          </a:xfrm>
          <a:prstGeom prst="rect">
            <a:avLst/>
          </a:prstGeom>
        </p:spPr>
      </p:pic>
      <p:sp>
        <p:nvSpPr>
          <p:cNvPr id="48" name="TextBox 47">
            <a:extLst>
              <a:ext uri="{FF2B5EF4-FFF2-40B4-BE49-F238E27FC236}">
                <a16:creationId xmlns:a16="http://schemas.microsoft.com/office/drawing/2014/main" id="{1EEAF352-701E-4433-94CA-D271CFDD80E5}"/>
              </a:ext>
            </a:extLst>
          </p:cNvPr>
          <p:cNvSpPr txBox="1"/>
          <p:nvPr/>
        </p:nvSpPr>
        <p:spPr>
          <a:xfrm>
            <a:off x="333640" y="2034027"/>
            <a:ext cx="2023670" cy="83099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419" sz="1600" b="0" i="0" u="none" strike="noStrike" kern="1200" cap="none" spc="0" normalizeH="0" baseline="0" noProof="0" dirty="0">
                <a:ln>
                  <a:noFill/>
                </a:ln>
                <a:solidFill>
                  <a:prstClr val="black"/>
                </a:solidFill>
                <a:effectLst/>
                <a:uLnTx/>
                <a:uFillTx/>
                <a:latin typeface="Calibri" panose="020F0502020204030204"/>
                <a:ea typeface="+mn-ea"/>
                <a:cs typeface="+mn-cs"/>
              </a:rPr>
              <a:t>Install Bind DNS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419" sz="1600" b="0" i="0" u="none" strike="noStrike" kern="1200" cap="none" spc="0" normalizeH="0" baseline="0" noProof="0" dirty="0">
                <a:ln>
                  <a:noFill/>
                </a:ln>
                <a:solidFill>
                  <a:prstClr val="black"/>
                </a:solidFill>
                <a:effectLst/>
                <a:uLnTx/>
                <a:uFillTx/>
                <a:latin typeface="Calibri" panose="020F0502020204030204"/>
                <a:ea typeface="+mn-ea"/>
                <a:cs typeface="+mn-cs"/>
              </a:rPr>
              <a:t>Install HAProxy</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s-419" sz="1600" b="0" i="0" u="none" strike="noStrike" kern="1200" cap="none" spc="0" normalizeH="0" baseline="0" noProof="0" dirty="0">
                <a:ln>
                  <a:noFill/>
                </a:ln>
                <a:solidFill>
                  <a:prstClr val="black"/>
                </a:solidFill>
                <a:effectLst/>
                <a:uLnTx/>
                <a:uFillTx/>
                <a:latin typeface="Calibri" panose="020F0502020204030204"/>
                <a:ea typeface="+mn-ea"/>
                <a:cs typeface="+mn-cs"/>
              </a:rPr>
              <a:t>Install Tools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2" name="Picture 51">
            <a:extLst>
              <a:ext uri="{FF2B5EF4-FFF2-40B4-BE49-F238E27FC236}">
                <a16:creationId xmlns:a16="http://schemas.microsoft.com/office/drawing/2014/main" id="{33981B38-C2BC-41D1-8E45-5580A6D88C4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90148" y="3563910"/>
            <a:ext cx="368073" cy="369887"/>
          </a:xfrm>
          <a:prstGeom prst="rect">
            <a:avLst/>
          </a:prstGeom>
        </p:spPr>
      </p:pic>
      <p:cxnSp>
        <p:nvCxnSpPr>
          <p:cNvPr id="55" name="Connector: Elbow 54">
            <a:extLst>
              <a:ext uri="{FF2B5EF4-FFF2-40B4-BE49-F238E27FC236}">
                <a16:creationId xmlns:a16="http://schemas.microsoft.com/office/drawing/2014/main" id="{3B69D865-06B4-4B83-8BAC-A51E0C9087DB}"/>
              </a:ext>
            </a:extLst>
          </p:cNvPr>
          <p:cNvCxnSpPr>
            <a:stCxn id="48" idx="2"/>
          </p:cNvCxnSpPr>
          <p:nvPr/>
        </p:nvCxnSpPr>
        <p:spPr>
          <a:xfrm rot="16200000" flipH="1">
            <a:off x="4721276" y="-510777"/>
            <a:ext cx="693534" cy="7445136"/>
          </a:xfrm>
          <a:prstGeom prst="bentConnector2">
            <a:avLst/>
          </a:prstGeom>
          <a:ln w="190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7" name="Rectangle 56">
            <a:extLst>
              <a:ext uri="{FF2B5EF4-FFF2-40B4-BE49-F238E27FC236}">
                <a16:creationId xmlns:a16="http://schemas.microsoft.com/office/drawing/2014/main" id="{F7336A66-9AE0-4ED3-A51E-15F19831E4A4}"/>
              </a:ext>
            </a:extLst>
          </p:cNvPr>
          <p:cNvSpPr/>
          <p:nvPr/>
        </p:nvSpPr>
        <p:spPr>
          <a:xfrm>
            <a:off x="5526943" y="1656744"/>
            <a:ext cx="5924029" cy="4081325"/>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2" name="Picture 61">
            <a:extLst>
              <a:ext uri="{FF2B5EF4-FFF2-40B4-BE49-F238E27FC236}">
                <a16:creationId xmlns:a16="http://schemas.microsoft.com/office/drawing/2014/main" id="{7842B3B2-F032-461F-B488-F11CC3B30342}"/>
              </a:ext>
            </a:extLst>
          </p:cNvPr>
          <p:cNvPicPr>
            <a:picLocks noChangeAspect="1"/>
          </p:cNvPicPr>
          <p:nvPr/>
        </p:nvPicPr>
        <p:blipFill>
          <a:blip r:embed="rId7"/>
          <a:stretch>
            <a:fillRect/>
          </a:stretch>
        </p:blipFill>
        <p:spPr>
          <a:xfrm>
            <a:off x="125398" y="6119633"/>
            <a:ext cx="2676525" cy="590550"/>
          </a:xfrm>
          <a:prstGeom prst="rect">
            <a:avLst/>
          </a:prstGeom>
        </p:spPr>
      </p:pic>
      <p:pic>
        <p:nvPicPr>
          <p:cNvPr id="64" name="Picture 63" descr="A close up of a logo&#10;&#10;Description automatically generated">
            <a:extLst>
              <a:ext uri="{FF2B5EF4-FFF2-40B4-BE49-F238E27FC236}">
                <a16:creationId xmlns:a16="http://schemas.microsoft.com/office/drawing/2014/main" id="{78F89FBA-F216-49CC-A902-804F1FF93BE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968720" y="559411"/>
            <a:ext cx="1895570" cy="990435"/>
          </a:xfrm>
          <a:prstGeom prst="rect">
            <a:avLst/>
          </a:prstGeom>
        </p:spPr>
      </p:pic>
      <p:pic>
        <p:nvPicPr>
          <p:cNvPr id="66" name="Picture 65" descr="A close up of a sign&#10;&#10;Description automatically generated">
            <a:extLst>
              <a:ext uri="{FF2B5EF4-FFF2-40B4-BE49-F238E27FC236}">
                <a16:creationId xmlns:a16="http://schemas.microsoft.com/office/drawing/2014/main" id="{83573427-1411-4376-BD2D-27525C3F6D0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721516" y="5283820"/>
            <a:ext cx="1702853" cy="328621"/>
          </a:xfrm>
          <a:prstGeom prst="rect">
            <a:avLst/>
          </a:prstGeom>
        </p:spPr>
      </p:pic>
      <p:cxnSp>
        <p:nvCxnSpPr>
          <p:cNvPr id="68" name="Connector: Elbow 67">
            <a:extLst>
              <a:ext uri="{FF2B5EF4-FFF2-40B4-BE49-F238E27FC236}">
                <a16:creationId xmlns:a16="http://schemas.microsoft.com/office/drawing/2014/main" id="{2702E174-EE3F-499A-A9EB-EB652B5DC8FF}"/>
              </a:ext>
            </a:extLst>
          </p:cNvPr>
          <p:cNvCxnSpPr>
            <a:stCxn id="11" idx="2"/>
            <a:endCxn id="23" idx="3"/>
          </p:cNvCxnSpPr>
          <p:nvPr/>
        </p:nvCxnSpPr>
        <p:spPr>
          <a:xfrm rot="5400000">
            <a:off x="7656174" y="4563785"/>
            <a:ext cx="2141290" cy="727397"/>
          </a:xfrm>
          <a:prstGeom prst="bentConnector2">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96B51D66-294E-472B-B49B-EBC423DFFDDF}"/>
              </a:ext>
            </a:extLst>
          </p:cNvPr>
          <p:cNvCxnSpPr>
            <a:endCxn id="11" idx="1"/>
          </p:cNvCxnSpPr>
          <p:nvPr/>
        </p:nvCxnSpPr>
        <p:spPr>
          <a:xfrm>
            <a:off x="6112776" y="2734810"/>
            <a:ext cx="2661755" cy="815830"/>
          </a:xfrm>
          <a:prstGeom prst="straightConnector1">
            <a:avLst/>
          </a:prstGeom>
          <a:ln>
            <a:solidFill>
              <a:srgbClr val="FFC000"/>
            </a:solidFill>
            <a:tailEnd type="triangle"/>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B5D9759D-6FB3-4E84-8545-C686774FA69C}"/>
              </a:ext>
            </a:extLst>
          </p:cNvPr>
          <p:cNvSpPr txBox="1"/>
          <p:nvPr/>
        </p:nvSpPr>
        <p:spPr>
          <a:xfrm rot="1002560">
            <a:off x="6747942" y="2931688"/>
            <a:ext cx="140567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000" b="0" i="0" u="none" strike="noStrike" kern="1200" cap="none" spc="0" normalizeH="0" baseline="0" noProof="0" dirty="0">
                <a:ln>
                  <a:noFill/>
                </a:ln>
                <a:solidFill>
                  <a:prstClr val="black"/>
                </a:solidFill>
                <a:effectLst/>
                <a:uLnTx/>
                <a:uFillTx/>
                <a:latin typeface="Calibri" panose="020F0502020204030204"/>
                <a:ea typeface="+mn-ea"/>
                <a:cs typeface="+mn-cs"/>
              </a:rPr>
              <a:t>bootstrap ignition files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TextBox 73">
            <a:extLst>
              <a:ext uri="{FF2B5EF4-FFF2-40B4-BE49-F238E27FC236}">
                <a16:creationId xmlns:a16="http://schemas.microsoft.com/office/drawing/2014/main" id="{0B0DCE96-1A29-4AB1-B299-C2FF78CB0084}"/>
              </a:ext>
            </a:extLst>
          </p:cNvPr>
          <p:cNvSpPr txBox="1"/>
          <p:nvPr/>
        </p:nvSpPr>
        <p:spPr>
          <a:xfrm>
            <a:off x="8436780" y="5998128"/>
            <a:ext cx="1806767"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419" sz="1000" b="0" i="0" u="none" strike="noStrike" kern="1200" cap="none" spc="0" normalizeH="0" baseline="0" noProof="0" dirty="0">
                <a:ln>
                  <a:noFill/>
                </a:ln>
                <a:solidFill>
                  <a:prstClr val="black"/>
                </a:solidFill>
                <a:effectLst/>
                <a:uLnTx/>
                <a:uFillTx/>
                <a:latin typeface="Calibri" panose="020F0502020204030204"/>
                <a:ea typeface="+mn-ea"/>
                <a:cs typeface="+mn-cs"/>
              </a:rPr>
              <a:t>OpenShift Installer - Terraform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52413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4F3AA-1436-44E3-A658-AD617B5D2FD1}"/>
              </a:ext>
            </a:extLst>
          </p:cNvPr>
          <p:cNvSpPr>
            <a:spLocks noGrp="1"/>
          </p:cNvSpPr>
          <p:nvPr>
            <p:ph type="title"/>
          </p:nvPr>
        </p:nvSpPr>
        <p:spPr/>
        <p:txBody>
          <a:bodyPr/>
          <a:lstStyle/>
          <a:p>
            <a:r>
              <a:rPr lang="es-419" dirty="0" err="1"/>
              <a:t>Kubernetes</a:t>
            </a:r>
            <a:r>
              <a:rPr lang="es-419" dirty="0"/>
              <a:t> </a:t>
            </a:r>
            <a:r>
              <a:rPr lang="es-419" dirty="0" err="1"/>
              <a:t>Resource</a:t>
            </a:r>
            <a:r>
              <a:rPr lang="es-419" dirty="0"/>
              <a:t> </a:t>
            </a:r>
            <a:r>
              <a:rPr lang="es-419" dirty="0" err="1"/>
              <a:t>Types</a:t>
            </a:r>
            <a:endParaRPr lang="en-US" dirty="0"/>
          </a:p>
        </p:txBody>
      </p:sp>
      <p:sp>
        <p:nvSpPr>
          <p:cNvPr id="3" name="Content Placeholder 2">
            <a:extLst>
              <a:ext uri="{FF2B5EF4-FFF2-40B4-BE49-F238E27FC236}">
                <a16:creationId xmlns:a16="http://schemas.microsoft.com/office/drawing/2014/main" id="{CB8F7B4B-ADA4-4118-A11B-5E3E28CFB049}"/>
              </a:ext>
            </a:extLst>
          </p:cNvPr>
          <p:cNvSpPr>
            <a:spLocks noGrp="1"/>
          </p:cNvSpPr>
          <p:nvPr>
            <p:ph idx="1"/>
          </p:nvPr>
        </p:nvSpPr>
        <p:spPr/>
        <p:txBody>
          <a:bodyPr/>
          <a:lstStyle/>
          <a:p>
            <a:r>
              <a:rPr lang="es-419" dirty="0" err="1"/>
              <a:t>Pods</a:t>
            </a:r>
            <a:r>
              <a:rPr lang="es-419" dirty="0"/>
              <a:t> (</a:t>
            </a:r>
            <a:r>
              <a:rPr lang="es-419" dirty="0" err="1"/>
              <a:t>po</a:t>
            </a:r>
            <a:r>
              <a:rPr lang="es-419" dirty="0"/>
              <a:t>)</a:t>
            </a:r>
          </a:p>
          <a:p>
            <a:r>
              <a:rPr lang="es-419" dirty="0" err="1"/>
              <a:t>Services</a:t>
            </a:r>
            <a:r>
              <a:rPr lang="es-419" dirty="0"/>
              <a:t> (</a:t>
            </a:r>
            <a:r>
              <a:rPr lang="es-419" dirty="0" err="1"/>
              <a:t>svc</a:t>
            </a:r>
            <a:r>
              <a:rPr lang="es-419" dirty="0"/>
              <a:t>)</a:t>
            </a:r>
          </a:p>
          <a:p>
            <a:r>
              <a:rPr lang="es-419" dirty="0" err="1"/>
              <a:t>Replication</a:t>
            </a:r>
            <a:r>
              <a:rPr lang="es-419" dirty="0"/>
              <a:t> </a:t>
            </a:r>
            <a:r>
              <a:rPr lang="es-419" dirty="0" err="1"/>
              <a:t>Controllers</a:t>
            </a:r>
            <a:r>
              <a:rPr lang="es-419" dirty="0"/>
              <a:t> (</a:t>
            </a:r>
            <a:r>
              <a:rPr lang="es-419" dirty="0" err="1"/>
              <a:t>rc</a:t>
            </a:r>
            <a:r>
              <a:rPr lang="es-419" dirty="0"/>
              <a:t>)</a:t>
            </a:r>
          </a:p>
          <a:p>
            <a:r>
              <a:rPr lang="es-419" dirty="0" err="1"/>
              <a:t>Persistent</a:t>
            </a:r>
            <a:r>
              <a:rPr lang="es-419" dirty="0"/>
              <a:t> </a:t>
            </a:r>
            <a:r>
              <a:rPr lang="es-419" dirty="0" err="1"/>
              <a:t>Volumes</a:t>
            </a:r>
            <a:r>
              <a:rPr lang="es-419" dirty="0"/>
              <a:t> (</a:t>
            </a:r>
            <a:r>
              <a:rPr lang="es-419" dirty="0" err="1"/>
              <a:t>pv</a:t>
            </a:r>
            <a:r>
              <a:rPr lang="es-419" dirty="0"/>
              <a:t>)</a:t>
            </a:r>
          </a:p>
          <a:p>
            <a:r>
              <a:rPr lang="es-419" dirty="0" err="1"/>
              <a:t>Persistent</a:t>
            </a:r>
            <a:r>
              <a:rPr lang="es-419" dirty="0"/>
              <a:t> Volumen </a:t>
            </a:r>
            <a:r>
              <a:rPr lang="es-419" dirty="0" err="1"/>
              <a:t>Claims</a:t>
            </a:r>
            <a:r>
              <a:rPr lang="es-419" dirty="0"/>
              <a:t> (</a:t>
            </a:r>
            <a:r>
              <a:rPr lang="es-419" dirty="0" err="1"/>
              <a:t>pvc</a:t>
            </a:r>
            <a:r>
              <a:rPr lang="es-419" dirty="0"/>
              <a:t>)</a:t>
            </a:r>
          </a:p>
          <a:p>
            <a:r>
              <a:rPr lang="es-419" dirty="0" err="1"/>
              <a:t>ConfigMaps</a:t>
            </a:r>
            <a:r>
              <a:rPr lang="es-419" dirty="0"/>
              <a:t> (cm) y </a:t>
            </a:r>
            <a:r>
              <a:rPr lang="es-419" dirty="0" err="1"/>
              <a:t>Secrets</a:t>
            </a:r>
            <a:endParaRPr lang="en-US" dirty="0"/>
          </a:p>
        </p:txBody>
      </p:sp>
    </p:spTree>
    <p:extLst>
      <p:ext uri="{BB962C8B-B14F-4D97-AF65-F5344CB8AC3E}">
        <p14:creationId xmlns:p14="http://schemas.microsoft.com/office/powerpoint/2010/main" val="13187392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5CCA5-C123-41B7-BC40-A975E15BEA57}"/>
              </a:ext>
            </a:extLst>
          </p:cNvPr>
          <p:cNvSpPr>
            <a:spLocks noGrp="1"/>
          </p:cNvSpPr>
          <p:nvPr>
            <p:ph type="title"/>
          </p:nvPr>
        </p:nvSpPr>
        <p:spPr/>
        <p:txBody>
          <a:bodyPr/>
          <a:lstStyle/>
          <a:p>
            <a:r>
              <a:rPr lang="es-419" dirty="0" err="1"/>
              <a:t>OpenShift</a:t>
            </a:r>
            <a:r>
              <a:rPr lang="es-419" dirty="0"/>
              <a:t> </a:t>
            </a:r>
            <a:r>
              <a:rPr lang="es-419" dirty="0" err="1"/>
              <a:t>Resource</a:t>
            </a:r>
            <a:r>
              <a:rPr lang="es-419" dirty="0"/>
              <a:t> </a:t>
            </a:r>
            <a:r>
              <a:rPr lang="es-419" dirty="0" err="1"/>
              <a:t>Types</a:t>
            </a:r>
            <a:endParaRPr lang="en-US" dirty="0"/>
          </a:p>
        </p:txBody>
      </p:sp>
      <p:sp>
        <p:nvSpPr>
          <p:cNvPr id="3" name="Content Placeholder 2">
            <a:extLst>
              <a:ext uri="{FF2B5EF4-FFF2-40B4-BE49-F238E27FC236}">
                <a16:creationId xmlns:a16="http://schemas.microsoft.com/office/drawing/2014/main" id="{8D6DFF81-A97E-4443-A0AC-6E7BED76B9FB}"/>
              </a:ext>
            </a:extLst>
          </p:cNvPr>
          <p:cNvSpPr>
            <a:spLocks noGrp="1"/>
          </p:cNvSpPr>
          <p:nvPr>
            <p:ph idx="1"/>
          </p:nvPr>
        </p:nvSpPr>
        <p:spPr/>
        <p:txBody>
          <a:bodyPr/>
          <a:lstStyle/>
          <a:p>
            <a:r>
              <a:rPr lang="es-419" dirty="0" err="1"/>
              <a:t>Deployment</a:t>
            </a:r>
            <a:r>
              <a:rPr lang="es-419" dirty="0"/>
              <a:t> </a:t>
            </a:r>
            <a:r>
              <a:rPr lang="es-419" dirty="0" err="1"/>
              <a:t>Config</a:t>
            </a:r>
            <a:r>
              <a:rPr lang="es-419" dirty="0"/>
              <a:t> (</a:t>
            </a:r>
            <a:r>
              <a:rPr lang="es-419" dirty="0" err="1"/>
              <a:t>dc</a:t>
            </a:r>
            <a:r>
              <a:rPr lang="es-419" dirty="0"/>
              <a:t>)</a:t>
            </a:r>
          </a:p>
          <a:p>
            <a:r>
              <a:rPr lang="es-419" dirty="0" err="1"/>
              <a:t>Build</a:t>
            </a:r>
            <a:r>
              <a:rPr lang="es-419" dirty="0"/>
              <a:t> </a:t>
            </a:r>
            <a:r>
              <a:rPr lang="es-419" dirty="0" err="1"/>
              <a:t>Config</a:t>
            </a:r>
            <a:r>
              <a:rPr lang="es-419" dirty="0"/>
              <a:t> (</a:t>
            </a:r>
            <a:r>
              <a:rPr lang="es-419" dirty="0" err="1"/>
              <a:t>bc</a:t>
            </a:r>
            <a:r>
              <a:rPr lang="es-419" dirty="0"/>
              <a:t>)</a:t>
            </a:r>
          </a:p>
          <a:p>
            <a:r>
              <a:rPr lang="es-419" dirty="0" err="1"/>
              <a:t>Routes</a:t>
            </a:r>
            <a:endParaRPr lang="en-US" dirty="0"/>
          </a:p>
        </p:txBody>
      </p:sp>
    </p:spTree>
    <p:extLst>
      <p:ext uri="{BB962C8B-B14F-4D97-AF65-F5344CB8AC3E}">
        <p14:creationId xmlns:p14="http://schemas.microsoft.com/office/powerpoint/2010/main" val="27973083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32709-7BAC-422E-A741-A2F7B688833C}"/>
              </a:ext>
            </a:extLst>
          </p:cNvPr>
          <p:cNvSpPr>
            <a:spLocks noGrp="1"/>
          </p:cNvSpPr>
          <p:nvPr>
            <p:ph type="title"/>
          </p:nvPr>
        </p:nvSpPr>
        <p:spPr/>
        <p:txBody>
          <a:bodyPr/>
          <a:lstStyle/>
          <a:p>
            <a:r>
              <a:rPr lang="es-419" dirty="0"/>
              <a:t>Laboratorios</a:t>
            </a:r>
            <a:endParaRPr lang="en-US" dirty="0"/>
          </a:p>
        </p:txBody>
      </p:sp>
      <p:sp>
        <p:nvSpPr>
          <p:cNvPr id="3" name="Content Placeholder 2">
            <a:extLst>
              <a:ext uri="{FF2B5EF4-FFF2-40B4-BE49-F238E27FC236}">
                <a16:creationId xmlns:a16="http://schemas.microsoft.com/office/drawing/2014/main" id="{5FEDC07A-EE1A-4041-8C56-E8D633F1DAFE}"/>
              </a:ext>
            </a:extLst>
          </p:cNvPr>
          <p:cNvSpPr>
            <a:spLocks noGrp="1"/>
          </p:cNvSpPr>
          <p:nvPr>
            <p:ph idx="1"/>
          </p:nvPr>
        </p:nvSpPr>
        <p:spPr/>
        <p:txBody>
          <a:bodyPr>
            <a:normAutofit/>
          </a:bodyPr>
          <a:lstStyle/>
          <a:p>
            <a:pPr marL="0" indent="0">
              <a:buNone/>
            </a:pPr>
            <a:r>
              <a:rPr lang="en-US" sz="2400" dirty="0">
                <a:hlinkClick r:id="rId2"/>
              </a:rPr>
              <a:t>https://www.katacoda.com/openshift/courses/playgrounds/openshift42</a:t>
            </a:r>
            <a:endParaRPr lang="en-US" sz="2400" dirty="0"/>
          </a:p>
        </p:txBody>
      </p:sp>
      <p:pic>
        <p:nvPicPr>
          <p:cNvPr id="6" name="Picture 5">
            <a:extLst>
              <a:ext uri="{FF2B5EF4-FFF2-40B4-BE49-F238E27FC236}">
                <a16:creationId xmlns:a16="http://schemas.microsoft.com/office/drawing/2014/main" id="{45067376-A050-4EBA-ACA9-D58D2E01A4CB}"/>
              </a:ext>
            </a:extLst>
          </p:cNvPr>
          <p:cNvPicPr>
            <a:picLocks noChangeAspect="1"/>
          </p:cNvPicPr>
          <p:nvPr/>
        </p:nvPicPr>
        <p:blipFill>
          <a:blip r:embed="rId3"/>
          <a:stretch>
            <a:fillRect/>
          </a:stretch>
        </p:blipFill>
        <p:spPr>
          <a:xfrm>
            <a:off x="4360316" y="2317668"/>
            <a:ext cx="2471409" cy="3111701"/>
          </a:xfrm>
          <a:prstGeom prst="rect">
            <a:avLst/>
          </a:prstGeom>
        </p:spPr>
      </p:pic>
    </p:spTree>
    <p:extLst>
      <p:ext uri="{BB962C8B-B14F-4D97-AF65-F5344CB8AC3E}">
        <p14:creationId xmlns:p14="http://schemas.microsoft.com/office/powerpoint/2010/main" val="30818069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5036D-4E43-4EFF-8756-1829EA90019B}"/>
              </a:ext>
            </a:extLst>
          </p:cNvPr>
          <p:cNvSpPr>
            <a:spLocks noGrp="1"/>
          </p:cNvSpPr>
          <p:nvPr>
            <p:ph type="title"/>
          </p:nvPr>
        </p:nvSpPr>
        <p:spPr/>
        <p:txBody>
          <a:bodyPr/>
          <a:lstStyle/>
          <a:p>
            <a:r>
              <a:rPr lang="es-419" dirty="0"/>
              <a:t>Ejercicio - Creando recursos de </a:t>
            </a:r>
            <a:r>
              <a:rPr lang="es-419" dirty="0" err="1"/>
              <a:t>Kubernetes</a:t>
            </a:r>
            <a:r>
              <a:rPr lang="es-419" dirty="0"/>
              <a:t> </a:t>
            </a:r>
            <a:endParaRPr lang="en-US" dirty="0"/>
          </a:p>
        </p:txBody>
      </p:sp>
      <p:sp>
        <p:nvSpPr>
          <p:cNvPr id="3" name="Content Placeholder 2">
            <a:extLst>
              <a:ext uri="{FF2B5EF4-FFF2-40B4-BE49-F238E27FC236}">
                <a16:creationId xmlns:a16="http://schemas.microsoft.com/office/drawing/2014/main" id="{92E70A38-C2F9-4EB3-8143-0505778AF2AF}"/>
              </a:ext>
            </a:extLst>
          </p:cNvPr>
          <p:cNvSpPr>
            <a:spLocks noGrp="1"/>
          </p:cNvSpPr>
          <p:nvPr>
            <p:ph idx="1"/>
          </p:nvPr>
        </p:nvSpPr>
        <p:spPr/>
        <p:txBody>
          <a:bodyPr>
            <a:normAutofit fontScale="77500" lnSpcReduction="20000"/>
          </a:bodyPr>
          <a:lstStyle/>
          <a:p>
            <a:r>
              <a:rPr lang="es-419" dirty="0"/>
              <a:t>Clonar repositorio</a:t>
            </a:r>
          </a:p>
          <a:p>
            <a:endParaRPr lang="es-419" dirty="0"/>
          </a:p>
          <a:p>
            <a:pPr marL="0" indent="0">
              <a:buNone/>
            </a:pPr>
            <a:r>
              <a:rPr lang="es-419" dirty="0"/>
              <a:t>$</a:t>
            </a:r>
            <a:r>
              <a:rPr lang="es-419" dirty="0" err="1"/>
              <a:t>git</a:t>
            </a:r>
            <a:r>
              <a:rPr lang="es-419" dirty="0"/>
              <a:t> clone </a:t>
            </a:r>
            <a:r>
              <a:rPr lang="en-US" dirty="0"/>
              <a:t>https://github.com/jyamaniha/ocp_labs.git</a:t>
            </a:r>
            <a:endParaRPr lang="es-419" dirty="0"/>
          </a:p>
          <a:p>
            <a:pPr marL="0" indent="0">
              <a:buNone/>
            </a:pPr>
            <a:r>
              <a:rPr lang="es-419" dirty="0"/>
              <a:t>$cd </a:t>
            </a:r>
            <a:r>
              <a:rPr lang="es-419" dirty="0" err="1"/>
              <a:t>ocp_labs</a:t>
            </a:r>
            <a:r>
              <a:rPr lang="es-419" dirty="0"/>
              <a:t>/</a:t>
            </a:r>
            <a:r>
              <a:rPr lang="es-419" dirty="0" err="1"/>
              <a:t>resource_definitions</a:t>
            </a:r>
            <a:endParaRPr lang="es-419" dirty="0"/>
          </a:p>
          <a:p>
            <a:endParaRPr lang="es-419" dirty="0"/>
          </a:p>
          <a:p>
            <a:r>
              <a:rPr lang="es-419" dirty="0"/>
              <a:t>Crear un </a:t>
            </a:r>
            <a:r>
              <a:rPr lang="es-419" dirty="0" err="1"/>
              <a:t>Pod</a:t>
            </a:r>
            <a:r>
              <a:rPr lang="es-419" dirty="0"/>
              <a:t> usando </a:t>
            </a:r>
            <a:r>
              <a:rPr lang="es-419" dirty="0" err="1"/>
              <a:t>resource</a:t>
            </a:r>
            <a:r>
              <a:rPr lang="es-419" dirty="0"/>
              <a:t> </a:t>
            </a:r>
            <a:r>
              <a:rPr lang="es-419" dirty="0" err="1"/>
              <a:t>definition</a:t>
            </a:r>
            <a:endParaRPr lang="es-419" dirty="0"/>
          </a:p>
          <a:p>
            <a:endParaRPr lang="es-419" dirty="0"/>
          </a:p>
          <a:p>
            <a:pPr marL="0" indent="0">
              <a:buNone/>
            </a:pPr>
            <a:r>
              <a:rPr lang="es-419" dirty="0"/>
              <a:t>$</a:t>
            </a:r>
            <a:r>
              <a:rPr lang="es-419" dirty="0" err="1"/>
              <a:t>oc</a:t>
            </a:r>
            <a:r>
              <a:rPr lang="es-419" dirty="0"/>
              <a:t> </a:t>
            </a:r>
            <a:r>
              <a:rPr lang="es-419" dirty="0" err="1"/>
              <a:t>create</a:t>
            </a:r>
            <a:r>
              <a:rPr lang="es-419" dirty="0"/>
              <a:t> –f </a:t>
            </a:r>
            <a:r>
              <a:rPr lang="es-419" dirty="0" err="1"/>
              <a:t>pod_definition.yml</a:t>
            </a:r>
            <a:endParaRPr lang="es-419" dirty="0"/>
          </a:p>
          <a:p>
            <a:pPr marL="0" indent="0">
              <a:buNone/>
            </a:pPr>
            <a:endParaRPr lang="es-419" dirty="0"/>
          </a:p>
          <a:p>
            <a:r>
              <a:rPr lang="es-419" dirty="0"/>
              <a:t>Validar </a:t>
            </a:r>
            <a:r>
              <a:rPr lang="es-419" dirty="0" err="1"/>
              <a:t>Pod</a:t>
            </a:r>
            <a:r>
              <a:rPr lang="es-419" dirty="0"/>
              <a:t> creado</a:t>
            </a:r>
          </a:p>
          <a:p>
            <a:pPr marL="0" indent="0">
              <a:buNone/>
            </a:pPr>
            <a:endParaRPr lang="es-419" dirty="0"/>
          </a:p>
          <a:p>
            <a:pPr marL="0" indent="0">
              <a:buNone/>
            </a:pPr>
            <a:r>
              <a:rPr lang="es-419" dirty="0"/>
              <a:t>$</a:t>
            </a:r>
            <a:r>
              <a:rPr lang="es-419" dirty="0" err="1"/>
              <a:t>oc</a:t>
            </a:r>
            <a:r>
              <a:rPr lang="es-419" dirty="0"/>
              <a:t> </a:t>
            </a:r>
            <a:r>
              <a:rPr lang="es-419" dirty="0" err="1"/>
              <a:t>get</a:t>
            </a:r>
            <a:r>
              <a:rPr lang="es-419" dirty="0"/>
              <a:t> </a:t>
            </a:r>
            <a:r>
              <a:rPr lang="es-419" dirty="0" err="1"/>
              <a:t>pods</a:t>
            </a:r>
            <a:endParaRPr lang="es-419" dirty="0"/>
          </a:p>
          <a:p>
            <a:pPr marL="0" indent="0">
              <a:buNone/>
            </a:pPr>
            <a:endParaRPr lang="en-US" dirty="0"/>
          </a:p>
        </p:txBody>
      </p:sp>
    </p:spTree>
    <p:extLst>
      <p:ext uri="{BB962C8B-B14F-4D97-AF65-F5344CB8AC3E}">
        <p14:creationId xmlns:p14="http://schemas.microsoft.com/office/powerpoint/2010/main" val="8742188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9EE4C-9F08-4190-AAC8-B1A0E9097B1A}"/>
              </a:ext>
            </a:extLst>
          </p:cNvPr>
          <p:cNvSpPr>
            <a:spLocks noGrp="1"/>
          </p:cNvSpPr>
          <p:nvPr>
            <p:ph type="title"/>
          </p:nvPr>
        </p:nvSpPr>
        <p:spPr/>
        <p:txBody>
          <a:bodyPr/>
          <a:lstStyle/>
          <a:p>
            <a:r>
              <a:rPr lang="es-419" dirty="0"/>
              <a:t>Ejercicios (continuación)</a:t>
            </a:r>
            <a:endParaRPr lang="en-US" dirty="0"/>
          </a:p>
        </p:txBody>
      </p:sp>
      <p:sp>
        <p:nvSpPr>
          <p:cNvPr id="3" name="Content Placeholder 2">
            <a:extLst>
              <a:ext uri="{FF2B5EF4-FFF2-40B4-BE49-F238E27FC236}">
                <a16:creationId xmlns:a16="http://schemas.microsoft.com/office/drawing/2014/main" id="{D5ED9E71-9A69-4AB8-B55A-E7D6F0D5FEDC}"/>
              </a:ext>
            </a:extLst>
          </p:cNvPr>
          <p:cNvSpPr>
            <a:spLocks noGrp="1"/>
          </p:cNvSpPr>
          <p:nvPr>
            <p:ph idx="1"/>
          </p:nvPr>
        </p:nvSpPr>
        <p:spPr/>
        <p:txBody>
          <a:bodyPr/>
          <a:lstStyle/>
          <a:p>
            <a:r>
              <a:rPr lang="es-419" dirty="0"/>
              <a:t>Describir </a:t>
            </a:r>
            <a:r>
              <a:rPr lang="es-419" dirty="0" err="1"/>
              <a:t>Pod</a:t>
            </a:r>
            <a:endParaRPr lang="es-419" dirty="0"/>
          </a:p>
          <a:p>
            <a:endParaRPr lang="es-419" dirty="0"/>
          </a:p>
          <a:p>
            <a:pPr marL="0" indent="0">
              <a:buNone/>
            </a:pPr>
            <a:r>
              <a:rPr lang="es-419" dirty="0"/>
              <a:t>$ ??????</a:t>
            </a:r>
          </a:p>
          <a:p>
            <a:pPr marL="0" indent="0">
              <a:buNone/>
            </a:pPr>
            <a:endParaRPr lang="es-419" dirty="0"/>
          </a:p>
          <a:p>
            <a:r>
              <a:rPr lang="es-419" dirty="0"/>
              <a:t>Eliminar el </a:t>
            </a:r>
            <a:r>
              <a:rPr lang="es-419" dirty="0" err="1"/>
              <a:t>Pod</a:t>
            </a:r>
            <a:endParaRPr lang="es-419" dirty="0"/>
          </a:p>
          <a:p>
            <a:pPr marL="0" indent="0">
              <a:buNone/>
            </a:pPr>
            <a:endParaRPr lang="es-419" dirty="0"/>
          </a:p>
          <a:p>
            <a:pPr marL="0" indent="0">
              <a:buNone/>
            </a:pPr>
            <a:r>
              <a:rPr lang="es-419" dirty="0"/>
              <a:t>$ ????</a:t>
            </a:r>
            <a:endParaRPr lang="en-US" dirty="0"/>
          </a:p>
        </p:txBody>
      </p:sp>
    </p:spTree>
    <p:extLst>
      <p:ext uri="{BB962C8B-B14F-4D97-AF65-F5344CB8AC3E}">
        <p14:creationId xmlns:p14="http://schemas.microsoft.com/office/powerpoint/2010/main" val="3669653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5C101D-4928-4E34-890A-62A986E4A82F}"/>
              </a:ext>
            </a:extLst>
          </p:cNvPr>
          <p:cNvSpPr>
            <a:spLocks noGrp="1"/>
          </p:cNvSpPr>
          <p:nvPr>
            <p:ph type="title"/>
          </p:nvPr>
        </p:nvSpPr>
        <p:spPr/>
        <p:txBody>
          <a:bodyPr/>
          <a:lstStyle/>
          <a:p>
            <a:r>
              <a:rPr lang="es-419" dirty="0"/>
              <a:t>Ejercicio – Creando servicio</a:t>
            </a:r>
            <a:endParaRPr lang="en-US" dirty="0"/>
          </a:p>
        </p:txBody>
      </p:sp>
      <p:sp>
        <p:nvSpPr>
          <p:cNvPr id="3" name="Content Placeholder 2">
            <a:extLst>
              <a:ext uri="{FF2B5EF4-FFF2-40B4-BE49-F238E27FC236}">
                <a16:creationId xmlns:a16="http://schemas.microsoft.com/office/drawing/2014/main" id="{3A574E94-99BF-4928-83A8-2F4571844E0B}"/>
              </a:ext>
            </a:extLst>
          </p:cNvPr>
          <p:cNvSpPr>
            <a:spLocks noGrp="1"/>
          </p:cNvSpPr>
          <p:nvPr>
            <p:ph idx="1"/>
          </p:nvPr>
        </p:nvSpPr>
        <p:spPr/>
        <p:txBody>
          <a:bodyPr/>
          <a:lstStyle/>
          <a:p>
            <a:r>
              <a:rPr lang="es-419" dirty="0"/>
              <a:t>Crear el </a:t>
            </a:r>
            <a:r>
              <a:rPr lang="es-419" dirty="0" err="1"/>
              <a:t>pod</a:t>
            </a:r>
            <a:r>
              <a:rPr lang="es-419" dirty="0"/>
              <a:t> y el servicio desde archivo de definición</a:t>
            </a:r>
          </a:p>
          <a:p>
            <a:pPr marL="0" indent="0">
              <a:buNone/>
            </a:pPr>
            <a:endParaRPr lang="es-419" dirty="0"/>
          </a:p>
          <a:p>
            <a:pPr marL="0" indent="0">
              <a:buNone/>
            </a:pPr>
            <a:r>
              <a:rPr lang="es-419" dirty="0"/>
              <a:t>$</a:t>
            </a:r>
            <a:r>
              <a:rPr lang="es-419" dirty="0" err="1"/>
              <a:t>oc</a:t>
            </a:r>
            <a:r>
              <a:rPr lang="es-419" dirty="0"/>
              <a:t> </a:t>
            </a:r>
            <a:r>
              <a:rPr lang="es-419" dirty="0" err="1"/>
              <a:t>create</a:t>
            </a:r>
            <a:r>
              <a:rPr lang="es-419" dirty="0"/>
              <a:t> –f </a:t>
            </a:r>
            <a:r>
              <a:rPr lang="es-419" dirty="0" err="1"/>
              <a:t>pod_definition.yml</a:t>
            </a:r>
            <a:endParaRPr lang="es-419" dirty="0"/>
          </a:p>
          <a:p>
            <a:pPr marL="0" indent="0">
              <a:buNone/>
            </a:pPr>
            <a:r>
              <a:rPr lang="es-419" dirty="0"/>
              <a:t>$</a:t>
            </a:r>
            <a:r>
              <a:rPr lang="es-419" dirty="0" err="1"/>
              <a:t>oc</a:t>
            </a:r>
            <a:r>
              <a:rPr lang="es-419" dirty="0"/>
              <a:t> </a:t>
            </a:r>
            <a:r>
              <a:rPr lang="es-419" dirty="0" err="1"/>
              <a:t>create</a:t>
            </a:r>
            <a:r>
              <a:rPr lang="es-419" dirty="0"/>
              <a:t> –f </a:t>
            </a:r>
            <a:r>
              <a:rPr lang="es-419" dirty="0" err="1"/>
              <a:t>service_definition.yml</a:t>
            </a:r>
            <a:endParaRPr lang="es-419" dirty="0"/>
          </a:p>
          <a:p>
            <a:pPr marL="0" indent="0">
              <a:buNone/>
            </a:pPr>
            <a:endParaRPr lang="es-419" dirty="0"/>
          </a:p>
          <a:p>
            <a:r>
              <a:rPr lang="es-419" dirty="0"/>
              <a:t>Listar servicios</a:t>
            </a:r>
          </a:p>
          <a:p>
            <a:pPr marL="0" indent="0">
              <a:buNone/>
            </a:pPr>
            <a:endParaRPr lang="es-419" dirty="0"/>
          </a:p>
          <a:p>
            <a:pPr marL="0" indent="0">
              <a:buNone/>
            </a:pPr>
            <a:r>
              <a:rPr lang="es-419" dirty="0"/>
              <a:t>$</a:t>
            </a:r>
            <a:r>
              <a:rPr lang="es-419" dirty="0" err="1"/>
              <a:t>oc</a:t>
            </a:r>
            <a:r>
              <a:rPr lang="es-419" dirty="0"/>
              <a:t> </a:t>
            </a:r>
            <a:r>
              <a:rPr lang="es-419" dirty="0" err="1"/>
              <a:t>get</a:t>
            </a:r>
            <a:r>
              <a:rPr lang="es-419" dirty="0"/>
              <a:t> </a:t>
            </a:r>
            <a:r>
              <a:rPr lang="es-419" dirty="0" err="1"/>
              <a:t>service</a:t>
            </a:r>
            <a:endParaRPr lang="en-US" dirty="0"/>
          </a:p>
        </p:txBody>
      </p:sp>
    </p:spTree>
    <p:extLst>
      <p:ext uri="{BB962C8B-B14F-4D97-AF65-F5344CB8AC3E}">
        <p14:creationId xmlns:p14="http://schemas.microsoft.com/office/powerpoint/2010/main" val="31433362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80332-23CA-4B94-A058-820198BA3AA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5013A942-9218-4DA4-BE45-C42A8CE468BC}"/>
              </a:ext>
            </a:extLst>
          </p:cNvPr>
          <p:cNvSpPr>
            <a:spLocks noGrp="1"/>
          </p:cNvSpPr>
          <p:nvPr>
            <p:ph idx="1"/>
          </p:nvPr>
        </p:nvSpPr>
        <p:spPr/>
        <p:txBody>
          <a:bodyPr/>
          <a:lstStyle/>
          <a:p>
            <a:r>
              <a:rPr lang="es-419" dirty="0"/>
              <a:t>Crear la ruta</a:t>
            </a:r>
          </a:p>
          <a:p>
            <a:endParaRPr lang="es-419" dirty="0"/>
          </a:p>
          <a:p>
            <a:pPr marL="0" indent="0">
              <a:buNone/>
            </a:pPr>
            <a:r>
              <a:rPr lang="es-419" dirty="0"/>
              <a:t>$</a:t>
            </a:r>
            <a:r>
              <a:rPr lang="es-419" dirty="0" err="1"/>
              <a:t>oc</a:t>
            </a:r>
            <a:r>
              <a:rPr lang="es-419" dirty="0"/>
              <a:t> </a:t>
            </a:r>
            <a:r>
              <a:rPr lang="es-419" dirty="0" err="1"/>
              <a:t>expose</a:t>
            </a:r>
            <a:r>
              <a:rPr lang="es-419" dirty="0"/>
              <a:t> </a:t>
            </a:r>
            <a:r>
              <a:rPr lang="es-419" dirty="0" err="1"/>
              <a:t>service</a:t>
            </a:r>
            <a:r>
              <a:rPr lang="es-419" dirty="0"/>
              <a:t> </a:t>
            </a:r>
            <a:r>
              <a:rPr lang="es-419" dirty="0" err="1"/>
              <a:t>nginx-service</a:t>
            </a:r>
            <a:endParaRPr lang="en-US" dirty="0"/>
          </a:p>
        </p:txBody>
      </p:sp>
    </p:spTree>
    <p:extLst>
      <p:ext uri="{BB962C8B-B14F-4D97-AF65-F5344CB8AC3E}">
        <p14:creationId xmlns:p14="http://schemas.microsoft.com/office/powerpoint/2010/main" val="25000967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9C326D-E57A-437F-BE18-13AD81A7C1C3}"/>
              </a:ext>
            </a:extLst>
          </p:cNvPr>
          <p:cNvSpPr>
            <a:spLocks noGrp="1"/>
          </p:cNvSpPr>
          <p:nvPr>
            <p:ph type="title"/>
          </p:nvPr>
        </p:nvSpPr>
        <p:spPr/>
        <p:txBody>
          <a:bodyPr/>
          <a:lstStyle/>
          <a:p>
            <a:r>
              <a:rPr lang="es-419" dirty="0"/>
              <a:t>Práctica</a:t>
            </a:r>
            <a:endParaRPr lang="en-US" dirty="0"/>
          </a:p>
        </p:txBody>
      </p:sp>
      <p:sp>
        <p:nvSpPr>
          <p:cNvPr id="3" name="Content Placeholder 2">
            <a:extLst>
              <a:ext uri="{FF2B5EF4-FFF2-40B4-BE49-F238E27FC236}">
                <a16:creationId xmlns:a16="http://schemas.microsoft.com/office/drawing/2014/main" id="{A6790C61-4492-43AD-BB6B-6AB63C8F31BE}"/>
              </a:ext>
            </a:extLst>
          </p:cNvPr>
          <p:cNvSpPr>
            <a:spLocks noGrp="1"/>
          </p:cNvSpPr>
          <p:nvPr>
            <p:ph idx="1"/>
          </p:nvPr>
        </p:nvSpPr>
        <p:spPr>
          <a:xfrm>
            <a:off x="838200" y="1690688"/>
            <a:ext cx="10515600" cy="4351338"/>
          </a:xfrm>
        </p:spPr>
        <p:txBody>
          <a:bodyPr/>
          <a:lstStyle/>
          <a:p>
            <a:r>
              <a:rPr lang="es-419" dirty="0"/>
              <a:t>Modificar el </a:t>
            </a:r>
            <a:r>
              <a:rPr lang="es-419" dirty="0" err="1"/>
              <a:t>pod_definition.yml</a:t>
            </a:r>
            <a:r>
              <a:rPr lang="es-419" dirty="0"/>
              <a:t> y cambiar la imagen a </a:t>
            </a:r>
            <a:r>
              <a:rPr lang="es-419" dirty="0" err="1"/>
              <a:t>httpd</a:t>
            </a:r>
            <a:endParaRPr lang="es-419" dirty="0"/>
          </a:p>
          <a:p>
            <a:r>
              <a:rPr lang="es-419" dirty="0"/>
              <a:t>Modificar o actualizar el </a:t>
            </a:r>
            <a:r>
              <a:rPr lang="es-419" dirty="0" err="1"/>
              <a:t>service_definition.yml</a:t>
            </a:r>
            <a:endParaRPr lang="es-419" dirty="0"/>
          </a:p>
          <a:p>
            <a:r>
              <a:rPr lang="en-US" dirty="0" err="1"/>
              <a:t>Crear</a:t>
            </a:r>
            <a:r>
              <a:rPr lang="en-US" dirty="0"/>
              <a:t> el pod y el </a:t>
            </a:r>
            <a:r>
              <a:rPr lang="en-US" dirty="0" err="1"/>
              <a:t>servicio</a:t>
            </a:r>
            <a:r>
              <a:rPr lang="en-US" dirty="0"/>
              <a:t> con la </a:t>
            </a:r>
            <a:r>
              <a:rPr lang="en-US" dirty="0" err="1"/>
              <a:t>nueva</a:t>
            </a:r>
            <a:r>
              <a:rPr lang="en-US" dirty="0"/>
              <a:t> imagen.</a:t>
            </a:r>
          </a:p>
          <a:p>
            <a:r>
              <a:rPr lang="en-US" dirty="0" err="1"/>
              <a:t>Crear</a:t>
            </a:r>
            <a:r>
              <a:rPr lang="en-US" dirty="0"/>
              <a:t> la </a:t>
            </a:r>
            <a:r>
              <a:rPr lang="en-US" dirty="0" err="1"/>
              <a:t>ruta</a:t>
            </a:r>
            <a:r>
              <a:rPr lang="en-US" dirty="0"/>
              <a:t> y </a:t>
            </a:r>
            <a:r>
              <a:rPr lang="en-US" dirty="0" err="1"/>
              <a:t>validar</a:t>
            </a:r>
            <a:endParaRPr lang="en-US" dirty="0"/>
          </a:p>
          <a:p>
            <a:r>
              <a:rPr lang="en-US" dirty="0" err="1"/>
              <a:t>Eliminar</a:t>
            </a:r>
            <a:r>
              <a:rPr lang="en-US" dirty="0"/>
              <a:t> los </a:t>
            </a:r>
            <a:r>
              <a:rPr lang="en-US" dirty="0" err="1"/>
              <a:t>recursos</a:t>
            </a:r>
            <a:r>
              <a:rPr lang="en-US" dirty="0"/>
              <a:t> </a:t>
            </a:r>
            <a:r>
              <a:rPr lang="en-US" dirty="0" err="1"/>
              <a:t>creados</a:t>
            </a:r>
            <a:endParaRPr lang="es-419" dirty="0"/>
          </a:p>
        </p:txBody>
      </p:sp>
    </p:spTree>
    <p:extLst>
      <p:ext uri="{BB962C8B-B14F-4D97-AF65-F5344CB8AC3E}">
        <p14:creationId xmlns:p14="http://schemas.microsoft.com/office/powerpoint/2010/main" val="429203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1BF41-0922-43B0-A08C-1C66B883A63E}"/>
              </a:ext>
            </a:extLst>
          </p:cNvPr>
          <p:cNvSpPr>
            <a:spLocks noGrp="1"/>
          </p:cNvSpPr>
          <p:nvPr>
            <p:ph type="title"/>
          </p:nvPr>
        </p:nvSpPr>
        <p:spPr/>
        <p:txBody>
          <a:bodyPr/>
          <a:lstStyle/>
          <a:p>
            <a:r>
              <a:rPr lang="es-419" dirty="0" err="1"/>
              <a:t>OpenShift</a:t>
            </a:r>
            <a:r>
              <a:rPr lang="es-419" dirty="0"/>
              <a:t> </a:t>
            </a:r>
            <a:r>
              <a:rPr lang="es-419" dirty="0" err="1"/>
              <a:t>Resource</a:t>
            </a:r>
            <a:r>
              <a:rPr lang="es-419" dirty="0"/>
              <a:t> </a:t>
            </a:r>
            <a:r>
              <a:rPr lang="es-419" dirty="0" err="1"/>
              <a:t>Command</a:t>
            </a:r>
            <a:r>
              <a:rPr lang="es-419" dirty="0"/>
              <a:t> Line</a:t>
            </a:r>
            <a:endParaRPr lang="en-US" dirty="0"/>
          </a:p>
        </p:txBody>
      </p:sp>
      <p:sp>
        <p:nvSpPr>
          <p:cNvPr id="3" name="Content Placeholder 2">
            <a:extLst>
              <a:ext uri="{FF2B5EF4-FFF2-40B4-BE49-F238E27FC236}">
                <a16:creationId xmlns:a16="http://schemas.microsoft.com/office/drawing/2014/main" id="{387E6BE1-8A85-4EC9-8F26-478AF1CCC186}"/>
              </a:ext>
            </a:extLst>
          </p:cNvPr>
          <p:cNvSpPr>
            <a:spLocks noGrp="1"/>
          </p:cNvSpPr>
          <p:nvPr>
            <p:ph idx="1"/>
          </p:nvPr>
        </p:nvSpPr>
        <p:spPr/>
        <p:txBody>
          <a:bodyPr/>
          <a:lstStyle/>
          <a:p>
            <a:pPr marL="0" indent="0">
              <a:buNone/>
            </a:pPr>
            <a:r>
              <a:rPr lang="es-419" dirty="0" err="1"/>
              <a:t>oc</a:t>
            </a:r>
            <a:r>
              <a:rPr lang="es-419" dirty="0"/>
              <a:t> </a:t>
            </a:r>
            <a:r>
              <a:rPr lang="es-419" dirty="0" err="1"/>
              <a:t>get</a:t>
            </a:r>
            <a:r>
              <a:rPr lang="es-419" dirty="0"/>
              <a:t> RESOURCE_TYPE</a:t>
            </a:r>
          </a:p>
          <a:p>
            <a:pPr marL="0" indent="0">
              <a:buNone/>
            </a:pPr>
            <a:r>
              <a:rPr lang="es-419" dirty="0" err="1"/>
              <a:t>oc</a:t>
            </a:r>
            <a:r>
              <a:rPr lang="es-419" dirty="0"/>
              <a:t> </a:t>
            </a:r>
            <a:r>
              <a:rPr lang="es-419" dirty="0" err="1"/>
              <a:t>get</a:t>
            </a:r>
            <a:r>
              <a:rPr lang="es-419" dirty="0"/>
              <a:t> </a:t>
            </a:r>
            <a:r>
              <a:rPr lang="es-419" dirty="0" err="1"/>
              <a:t>all</a:t>
            </a:r>
            <a:endParaRPr lang="es-419" dirty="0"/>
          </a:p>
          <a:p>
            <a:pPr marL="0" indent="0">
              <a:buNone/>
            </a:pPr>
            <a:r>
              <a:rPr lang="es-419" dirty="0" err="1"/>
              <a:t>oc</a:t>
            </a:r>
            <a:r>
              <a:rPr lang="es-419" dirty="0"/>
              <a:t> </a:t>
            </a:r>
            <a:r>
              <a:rPr lang="es-419" dirty="0" err="1"/>
              <a:t>create</a:t>
            </a:r>
            <a:endParaRPr lang="es-419" dirty="0"/>
          </a:p>
          <a:p>
            <a:pPr marL="0" indent="0">
              <a:buNone/>
            </a:pPr>
            <a:r>
              <a:rPr lang="es-419" dirty="0" err="1"/>
              <a:t>oc</a:t>
            </a:r>
            <a:r>
              <a:rPr lang="es-419" dirty="0"/>
              <a:t> describe RESOURCE_TYPE RESOURCE_NAME</a:t>
            </a:r>
          </a:p>
          <a:p>
            <a:pPr marL="0" indent="0">
              <a:buNone/>
            </a:pPr>
            <a:r>
              <a:rPr lang="es-419" dirty="0" err="1"/>
              <a:t>oc</a:t>
            </a:r>
            <a:r>
              <a:rPr lang="es-419" dirty="0"/>
              <a:t> </a:t>
            </a:r>
            <a:r>
              <a:rPr lang="es-419" dirty="0" err="1"/>
              <a:t>edit</a:t>
            </a:r>
            <a:r>
              <a:rPr lang="es-419" dirty="0"/>
              <a:t> RESOURCE_TYPE RESOURCE_NAME</a:t>
            </a:r>
          </a:p>
          <a:p>
            <a:pPr marL="0" indent="0">
              <a:buNone/>
            </a:pPr>
            <a:r>
              <a:rPr lang="es-419" dirty="0" err="1"/>
              <a:t>oc</a:t>
            </a:r>
            <a:r>
              <a:rPr lang="es-419" dirty="0"/>
              <a:t> </a:t>
            </a:r>
            <a:r>
              <a:rPr lang="es-419" dirty="0" err="1"/>
              <a:t>delete</a:t>
            </a:r>
            <a:r>
              <a:rPr lang="es-419" dirty="0"/>
              <a:t> RESOURCE_TYPE RESOURCE_NAME</a:t>
            </a:r>
          </a:p>
          <a:p>
            <a:pPr marL="0" indent="0">
              <a:buNone/>
            </a:pPr>
            <a:endParaRPr lang="es-419" dirty="0"/>
          </a:p>
          <a:p>
            <a:pPr marL="0" indent="0">
              <a:buNone/>
            </a:pPr>
            <a:endParaRPr lang="es-419" dirty="0"/>
          </a:p>
          <a:p>
            <a:pPr marL="0" indent="0">
              <a:buNone/>
            </a:pPr>
            <a:endParaRPr lang="en-US" dirty="0"/>
          </a:p>
        </p:txBody>
      </p:sp>
    </p:spTree>
    <p:extLst>
      <p:ext uri="{BB962C8B-B14F-4D97-AF65-F5344CB8AC3E}">
        <p14:creationId xmlns:p14="http://schemas.microsoft.com/office/powerpoint/2010/main" val="1919465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21BD29-5462-4F1A-875A-659977E339A0}"/>
              </a:ext>
            </a:extLst>
          </p:cNvPr>
          <p:cNvSpPr>
            <a:spLocks noGrp="1"/>
          </p:cNvSpPr>
          <p:nvPr>
            <p:ph type="ctrTitle"/>
          </p:nvPr>
        </p:nvSpPr>
        <p:spPr/>
        <p:txBody>
          <a:bodyPr/>
          <a:lstStyle/>
          <a:p>
            <a:r>
              <a:rPr lang="es-419" dirty="0"/>
              <a:t>Creando Aplicaciones</a:t>
            </a:r>
            <a:endParaRPr lang="en-US" dirty="0"/>
          </a:p>
        </p:txBody>
      </p:sp>
      <p:sp>
        <p:nvSpPr>
          <p:cNvPr id="4" name="Subtitle 3">
            <a:extLst>
              <a:ext uri="{FF2B5EF4-FFF2-40B4-BE49-F238E27FC236}">
                <a16:creationId xmlns:a16="http://schemas.microsoft.com/office/drawing/2014/main" id="{4EDB6F32-78B5-4659-944D-BC5627908B8D}"/>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54210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A23D93-11C1-4489-BA3D-7420F18A65A8}"/>
              </a:ext>
            </a:extLst>
          </p:cNvPr>
          <p:cNvSpPr>
            <a:spLocks noGrp="1"/>
          </p:cNvSpPr>
          <p:nvPr>
            <p:ph type="title"/>
          </p:nvPr>
        </p:nvSpPr>
        <p:spPr/>
        <p:txBody>
          <a:bodyPr/>
          <a:lstStyle/>
          <a:p>
            <a:r>
              <a:rPr lang="es-419" dirty="0"/>
              <a:t>new-app</a:t>
            </a:r>
            <a:endParaRPr lang="en-US" dirty="0"/>
          </a:p>
        </p:txBody>
      </p:sp>
      <p:sp>
        <p:nvSpPr>
          <p:cNvPr id="3" name="Content Placeholder 2">
            <a:extLst>
              <a:ext uri="{FF2B5EF4-FFF2-40B4-BE49-F238E27FC236}">
                <a16:creationId xmlns:a16="http://schemas.microsoft.com/office/drawing/2014/main" id="{A902991A-B86C-46DF-87BA-177CF310DBBE}"/>
              </a:ext>
            </a:extLst>
          </p:cNvPr>
          <p:cNvSpPr>
            <a:spLocks noGrp="1"/>
          </p:cNvSpPr>
          <p:nvPr>
            <p:ph idx="1"/>
          </p:nvPr>
        </p:nvSpPr>
        <p:spPr/>
        <p:txBody>
          <a:bodyPr/>
          <a:lstStyle/>
          <a:p>
            <a:pPr marL="0" indent="0">
              <a:buNone/>
            </a:pPr>
            <a:r>
              <a:rPr lang="es-419" dirty="0"/>
              <a:t>Con new-app se puede crear aplicaciones desde el código fuente.</a:t>
            </a:r>
          </a:p>
          <a:p>
            <a:pPr marL="0" indent="0">
              <a:buNone/>
            </a:pPr>
            <a:endParaRPr lang="es-419" dirty="0"/>
          </a:p>
          <a:p>
            <a:pPr marL="0" indent="0">
              <a:buNone/>
            </a:pPr>
            <a:r>
              <a:rPr lang="es-419" dirty="0"/>
              <a:t>Este comando crea un </a:t>
            </a:r>
            <a:r>
              <a:rPr lang="es-419" dirty="0" err="1"/>
              <a:t>build</a:t>
            </a:r>
            <a:r>
              <a:rPr lang="es-419" dirty="0"/>
              <a:t> </a:t>
            </a:r>
            <a:r>
              <a:rPr lang="es-419" dirty="0" err="1"/>
              <a:t>configuration</a:t>
            </a:r>
            <a:r>
              <a:rPr lang="es-419" dirty="0"/>
              <a:t> en donde se crea una nueva imagen a partir del código fuente. También típicamente crea un </a:t>
            </a:r>
            <a:r>
              <a:rPr lang="es-419" dirty="0" err="1"/>
              <a:t>deployment</a:t>
            </a:r>
            <a:r>
              <a:rPr lang="es-419" dirty="0"/>
              <a:t> </a:t>
            </a:r>
            <a:r>
              <a:rPr lang="es-419" dirty="0" err="1"/>
              <a:t>configuration</a:t>
            </a:r>
            <a:r>
              <a:rPr lang="es-419" dirty="0"/>
              <a:t> para desplegar la imagen y un servicio.</a:t>
            </a:r>
          </a:p>
          <a:p>
            <a:pPr marL="0" indent="0">
              <a:buNone/>
            </a:pPr>
            <a:endParaRPr lang="es-419" dirty="0"/>
          </a:p>
          <a:p>
            <a:pPr marL="0" indent="0">
              <a:buNone/>
            </a:pPr>
            <a:r>
              <a:rPr lang="es-419" dirty="0"/>
              <a:t>new-app detecta la estrategia de </a:t>
            </a:r>
            <a:r>
              <a:rPr lang="es-419" dirty="0" err="1"/>
              <a:t>build</a:t>
            </a:r>
            <a:r>
              <a:rPr lang="es-419" dirty="0"/>
              <a:t>.</a:t>
            </a:r>
            <a:endParaRPr lang="en-US" dirty="0"/>
          </a:p>
        </p:txBody>
      </p:sp>
    </p:spTree>
    <p:extLst>
      <p:ext uri="{BB962C8B-B14F-4D97-AF65-F5344CB8AC3E}">
        <p14:creationId xmlns:p14="http://schemas.microsoft.com/office/powerpoint/2010/main" val="42260221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81DA-6DF3-4391-9023-F491D7966EB9}"/>
              </a:ext>
            </a:extLst>
          </p:cNvPr>
          <p:cNvSpPr>
            <a:spLocks noGrp="1"/>
          </p:cNvSpPr>
          <p:nvPr>
            <p:ph type="title"/>
          </p:nvPr>
        </p:nvSpPr>
        <p:spPr/>
        <p:txBody>
          <a:bodyPr/>
          <a:lstStyle/>
          <a:p>
            <a:r>
              <a:rPr lang="es-419" dirty="0"/>
              <a:t>Creando aplicaciones desde imagen</a:t>
            </a:r>
            <a:endParaRPr lang="en-US" dirty="0"/>
          </a:p>
        </p:txBody>
      </p:sp>
      <p:pic>
        <p:nvPicPr>
          <p:cNvPr id="4" name="Picture 3">
            <a:extLst>
              <a:ext uri="{FF2B5EF4-FFF2-40B4-BE49-F238E27FC236}">
                <a16:creationId xmlns:a16="http://schemas.microsoft.com/office/drawing/2014/main" id="{54F74D28-1599-4432-BCE8-E64633FCBE74}"/>
              </a:ext>
            </a:extLst>
          </p:cNvPr>
          <p:cNvPicPr>
            <a:picLocks noChangeAspect="1"/>
          </p:cNvPicPr>
          <p:nvPr/>
        </p:nvPicPr>
        <p:blipFill>
          <a:blip r:embed="rId3"/>
          <a:stretch>
            <a:fillRect/>
          </a:stretch>
        </p:blipFill>
        <p:spPr>
          <a:xfrm>
            <a:off x="2065079" y="1690688"/>
            <a:ext cx="7853362" cy="4551719"/>
          </a:xfrm>
          <a:prstGeom prst="rect">
            <a:avLst/>
          </a:prstGeom>
        </p:spPr>
      </p:pic>
    </p:spTree>
    <p:extLst>
      <p:ext uri="{BB962C8B-B14F-4D97-AF65-F5344CB8AC3E}">
        <p14:creationId xmlns:p14="http://schemas.microsoft.com/office/powerpoint/2010/main" val="5829466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47C5F-E0E6-4A54-A4BB-FD622A068ECC}"/>
              </a:ext>
            </a:extLst>
          </p:cNvPr>
          <p:cNvSpPr>
            <a:spLocks noGrp="1"/>
          </p:cNvSpPr>
          <p:nvPr>
            <p:ph type="title"/>
          </p:nvPr>
        </p:nvSpPr>
        <p:spPr/>
        <p:txBody>
          <a:bodyPr/>
          <a:lstStyle/>
          <a:p>
            <a:r>
              <a:rPr lang="es-419" dirty="0"/>
              <a:t>Ejercicio (Despliegue desde imagen)</a:t>
            </a:r>
            <a:endParaRPr lang="en-US" dirty="0"/>
          </a:p>
        </p:txBody>
      </p:sp>
      <p:sp>
        <p:nvSpPr>
          <p:cNvPr id="3" name="Content Placeholder 2">
            <a:extLst>
              <a:ext uri="{FF2B5EF4-FFF2-40B4-BE49-F238E27FC236}">
                <a16:creationId xmlns:a16="http://schemas.microsoft.com/office/drawing/2014/main" id="{929EB3D7-D29D-4B9F-BB10-1A40DBBC8E63}"/>
              </a:ext>
            </a:extLst>
          </p:cNvPr>
          <p:cNvSpPr>
            <a:spLocks noGrp="1"/>
          </p:cNvSpPr>
          <p:nvPr>
            <p:ph idx="1"/>
          </p:nvPr>
        </p:nvSpPr>
        <p:spPr/>
        <p:txBody>
          <a:bodyPr>
            <a:normAutofit fontScale="62500" lnSpcReduction="20000"/>
          </a:bodyPr>
          <a:lstStyle/>
          <a:p>
            <a:r>
              <a:rPr lang="es-419" dirty="0"/>
              <a:t>Crear el proyecto</a:t>
            </a:r>
          </a:p>
          <a:p>
            <a:endParaRPr lang="es-419" dirty="0"/>
          </a:p>
          <a:p>
            <a:pPr marL="0" indent="0">
              <a:buNone/>
            </a:pPr>
            <a:r>
              <a:rPr lang="es-419" dirty="0"/>
              <a:t>$</a:t>
            </a:r>
            <a:r>
              <a:rPr lang="es-419" dirty="0" err="1"/>
              <a:t>oc</a:t>
            </a:r>
            <a:r>
              <a:rPr lang="es-419" dirty="0"/>
              <a:t> new-</a:t>
            </a:r>
            <a:r>
              <a:rPr lang="es-419" dirty="0" err="1"/>
              <a:t>project</a:t>
            </a:r>
            <a:r>
              <a:rPr lang="es-419" dirty="0"/>
              <a:t>  </a:t>
            </a:r>
            <a:r>
              <a:rPr lang="es-419" dirty="0" err="1"/>
              <a:t>deployments</a:t>
            </a:r>
            <a:endParaRPr lang="es-419" dirty="0"/>
          </a:p>
          <a:p>
            <a:endParaRPr lang="es-419" dirty="0"/>
          </a:p>
          <a:p>
            <a:r>
              <a:rPr lang="es-419" dirty="0"/>
              <a:t>Crear aplicación desde imagen</a:t>
            </a:r>
          </a:p>
          <a:p>
            <a:endParaRPr lang="es-419" dirty="0"/>
          </a:p>
          <a:p>
            <a:pPr marL="0" indent="0">
              <a:buNone/>
            </a:pPr>
            <a:r>
              <a:rPr lang="es-419" dirty="0"/>
              <a:t>$</a:t>
            </a:r>
            <a:r>
              <a:rPr lang="es-419" dirty="0" err="1"/>
              <a:t>oc</a:t>
            </a:r>
            <a:r>
              <a:rPr lang="es-419" dirty="0"/>
              <a:t> new-app </a:t>
            </a:r>
            <a:r>
              <a:rPr lang="es-419" dirty="0" err="1"/>
              <a:t>httpd</a:t>
            </a:r>
            <a:r>
              <a:rPr lang="es-419" dirty="0"/>
              <a:t> --</a:t>
            </a:r>
            <a:r>
              <a:rPr lang="es-419" dirty="0" err="1"/>
              <a:t>name</a:t>
            </a:r>
            <a:r>
              <a:rPr lang="es-419" dirty="0"/>
              <a:t> </a:t>
            </a:r>
            <a:r>
              <a:rPr lang="es-419" dirty="0" err="1"/>
              <a:t>httpd</a:t>
            </a:r>
            <a:endParaRPr lang="es-419" dirty="0"/>
          </a:p>
          <a:p>
            <a:pPr marL="0" indent="0">
              <a:buNone/>
            </a:pPr>
            <a:endParaRPr lang="es-419" dirty="0"/>
          </a:p>
          <a:p>
            <a:r>
              <a:rPr lang="es-419" dirty="0"/>
              <a:t>Validar que se haya creado el </a:t>
            </a:r>
            <a:r>
              <a:rPr lang="es-419" dirty="0" err="1"/>
              <a:t>pod</a:t>
            </a:r>
            <a:endParaRPr lang="es-419" dirty="0"/>
          </a:p>
          <a:p>
            <a:endParaRPr lang="es-419" dirty="0"/>
          </a:p>
          <a:p>
            <a:pPr marL="0" indent="0">
              <a:buNone/>
            </a:pPr>
            <a:r>
              <a:rPr lang="es-419" dirty="0"/>
              <a:t>$</a:t>
            </a:r>
            <a:r>
              <a:rPr lang="es-419" dirty="0" err="1"/>
              <a:t>oc</a:t>
            </a:r>
            <a:r>
              <a:rPr lang="es-419" dirty="0"/>
              <a:t> </a:t>
            </a:r>
            <a:r>
              <a:rPr lang="es-419" dirty="0" err="1"/>
              <a:t>get</a:t>
            </a:r>
            <a:r>
              <a:rPr lang="es-419" dirty="0"/>
              <a:t> </a:t>
            </a:r>
            <a:r>
              <a:rPr lang="es-419" dirty="0" err="1"/>
              <a:t>pods</a:t>
            </a:r>
            <a:endParaRPr lang="es-419" dirty="0"/>
          </a:p>
          <a:p>
            <a:endParaRPr lang="es-419" dirty="0"/>
          </a:p>
          <a:p>
            <a:r>
              <a:rPr lang="es-419" dirty="0"/>
              <a:t>Crear la ruta desde la consola</a:t>
            </a:r>
            <a:endParaRPr lang="en-US" dirty="0"/>
          </a:p>
        </p:txBody>
      </p:sp>
    </p:spTree>
    <p:extLst>
      <p:ext uri="{BB962C8B-B14F-4D97-AF65-F5344CB8AC3E}">
        <p14:creationId xmlns:p14="http://schemas.microsoft.com/office/powerpoint/2010/main" val="933383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9C922-2D8D-4413-B95C-3B9BBE15C0AB}"/>
              </a:ext>
            </a:extLst>
          </p:cNvPr>
          <p:cNvSpPr>
            <a:spLocks noGrp="1"/>
          </p:cNvSpPr>
          <p:nvPr>
            <p:ph type="title"/>
          </p:nvPr>
        </p:nvSpPr>
        <p:spPr/>
        <p:txBody>
          <a:bodyPr/>
          <a:lstStyle/>
          <a:p>
            <a:r>
              <a:rPr lang="es-419" dirty="0"/>
              <a:t>Ejercicio (continuación)</a:t>
            </a:r>
            <a:endParaRPr lang="en-US" dirty="0"/>
          </a:p>
        </p:txBody>
      </p:sp>
      <p:sp>
        <p:nvSpPr>
          <p:cNvPr id="3" name="Content Placeholder 2">
            <a:extLst>
              <a:ext uri="{FF2B5EF4-FFF2-40B4-BE49-F238E27FC236}">
                <a16:creationId xmlns:a16="http://schemas.microsoft.com/office/drawing/2014/main" id="{03246103-12E3-403C-AC55-8A89264B4FEE}"/>
              </a:ext>
            </a:extLst>
          </p:cNvPr>
          <p:cNvSpPr>
            <a:spLocks noGrp="1"/>
          </p:cNvSpPr>
          <p:nvPr>
            <p:ph idx="1"/>
          </p:nvPr>
        </p:nvSpPr>
        <p:spPr/>
        <p:txBody>
          <a:bodyPr/>
          <a:lstStyle/>
          <a:p>
            <a:r>
              <a:rPr lang="es-419" dirty="0"/>
              <a:t>Listar todos los recursos creados en el </a:t>
            </a:r>
            <a:r>
              <a:rPr lang="es-419" dirty="0" err="1"/>
              <a:t>projecto</a:t>
            </a:r>
            <a:endParaRPr lang="es-419" dirty="0"/>
          </a:p>
          <a:p>
            <a:pPr marL="0" indent="0">
              <a:buNone/>
            </a:pPr>
            <a:endParaRPr lang="es-419" dirty="0"/>
          </a:p>
          <a:p>
            <a:pPr marL="0" indent="0">
              <a:buNone/>
            </a:pPr>
            <a:r>
              <a:rPr lang="es-419" dirty="0"/>
              <a:t>$</a:t>
            </a:r>
            <a:r>
              <a:rPr lang="es-419" dirty="0" err="1"/>
              <a:t>oc</a:t>
            </a:r>
            <a:r>
              <a:rPr lang="es-419" dirty="0"/>
              <a:t> </a:t>
            </a:r>
            <a:r>
              <a:rPr lang="es-419" dirty="0" err="1"/>
              <a:t>get</a:t>
            </a:r>
            <a:r>
              <a:rPr lang="es-419" dirty="0"/>
              <a:t> </a:t>
            </a:r>
            <a:r>
              <a:rPr lang="es-419" dirty="0" err="1"/>
              <a:t>all</a:t>
            </a:r>
            <a:r>
              <a:rPr lang="es-419" dirty="0"/>
              <a:t> –o </a:t>
            </a:r>
            <a:r>
              <a:rPr lang="es-419" dirty="0" err="1"/>
              <a:t>name</a:t>
            </a:r>
            <a:endParaRPr lang="en-US" dirty="0"/>
          </a:p>
        </p:txBody>
      </p:sp>
    </p:spTree>
    <p:extLst>
      <p:ext uri="{BB962C8B-B14F-4D97-AF65-F5344CB8AC3E}">
        <p14:creationId xmlns:p14="http://schemas.microsoft.com/office/powerpoint/2010/main" val="29070070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F1C29-340B-4ADB-B4D3-AD7CE60B95E8}"/>
              </a:ext>
            </a:extLst>
          </p:cNvPr>
          <p:cNvSpPr>
            <a:spLocks noGrp="1"/>
          </p:cNvSpPr>
          <p:nvPr>
            <p:ph type="title"/>
          </p:nvPr>
        </p:nvSpPr>
        <p:spPr/>
        <p:txBody>
          <a:bodyPr/>
          <a:lstStyle/>
          <a:p>
            <a:r>
              <a:rPr lang="es-419" dirty="0"/>
              <a:t>Ejercicio (continuación)</a:t>
            </a:r>
            <a:endParaRPr lang="en-US" dirty="0"/>
          </a:p>
        </p:txBody>
      </p:sp>
      <p:sp>
        <p:nvSpPr>
          <p:cNvPr id="3" name="Content Placeholder 2">
            <a:extLst>
              <a:ext uri="{FF2B5EF4-FFF2-40B4-BE49-F238E27FC236}">
                <a16:creationId xmlns:a16="http://schemas.microsoft.com/office/drawing/2014/main" id="{469CFEC0-9747-4B70-B0C0-FDBAD116C31D}"/>
              </a:ext>
            </a:extLst>
          </p:cNvPr>
          <p:cNvSpPr>
            <a:spLocks noGrp="1"/>
          </p:cNvSpPr>
          <p:nvPr>
            <p:ph idx="1"/>
          </p:nvPr>
        </p:nvSpPr>
        <p:spPr/>
        <p:txBody>
          <a:bodyPr/>
          <a:lstStyle/>
          <a:p>
            <a:r>
              <a:rPr lang="es-419" dirty="0"/>
              <a:t>Describir el </a:t>
            </a:r>
            <a:r>
              <a:rPr lang="es-419" dirty="0" err="1"/>
              <a:t>Deployment</a:t>
            </a:r>
            <a:r>
              <a:rPr lang="es-419" dirty="0"/>
              <a:t> </a:t>
            </a:r>
            <a:r>
              <a:rPr lang="es-419" dirty="0" err="1"/>
              <a:t>Config</a:t>
            </a:r>
            <a:r>
              <a:rPr lang="es-419" dirty="0"/>
              <a:t> </a:t>
            </a:r>
            <a:r>
              <a:rPr lang="es-419" dirty="0" err="1"/>
              <a:t>httpd</a:t>
            </a:r>
            <a:endParaRPr lang="es-419" dirty="0"/>
          </a:p>
          <a:p>
            <a:endParaRPr lang="es-419" dirty="0"/>
          </a:p>
          <a:p>
            <a:pPr marL="0" indent="0">
              <a:buNone/>
            </a:pPr>
            <a:r>
              <a:rPr lang="es-419" dirty="0"/>
              <a:t>$</a:t>
            </a:r>
            <a:r>
              <a:rPr lang="es-419" dirty="0" err="1"/>
              <a:t>oc</a:t>
            </a:r>
            <a:r>
              <a:rPr lang="es-419" dirty="0"/>
              <a:t> describe </a:t>
            </a:r>
            <a:r>
              <a:rPr lang="es-419" dirty="0" err="1"/>
              <a:t>dc</a:t>
            </a:r>
            <a:r>
              <a:rPr lang="es-419" dirty="0"/>
              <a:t> </a:t>
            </a:r>
            <a:r>
              <a:rPr lang="es-419" dirty="0" err="1"/>
              <a:t>httpd</a:t>
            </a:r>
            <a:endParaRPr lang="es-419" dirty="0"/>
          </a:p>
          <a:p>
            <a:pPr marL="0" indent="0">
              <a:buNone/>
            </a:pPr>
            <a:endParaRPr lang="es-419" dirty="0"/>
          </a:p>
          <a:p>
            <a:r>
              <a:rPr lang="es-419" dirty="0"/>
              <a:t>Eliminar todos los recursos</a:t>
            </a:r>
          </a:p>
          <a:p>
            <a:pPr marL="0" indent="0">
              <a:buNone/>
            </a:pPr>
            <a:endParaRPr lang="es-419" dirty="0"/>
          </a:p>
          <a:p>
            <a:pPr marL="0" indent="0">
              <a:buNone/>
            </a:pPr>
            <a:r>
              <a:rPr lang="es-419" dirty="0"/>
              <a:t>$</a:t>
            </a:r>
            <a:r>
              <a:rPr lang="es-419" dirty="0" err="1"/>
              <a:t>oc</a:t>
            </a:r>
            <a:r>
              <a:rPr lang="es-419" dirty="0"/>
              <a:t> </a:t>
            </a:r>
            <a:r>
              <a:rPr lang="es-419" dirty="0" err="1"/>
              <a:t>delete</a:t>
            </a:r>
            <a:r>
              <a:rPr lang="es-419" dirty="0"/>
              <a:t> </a:t>
            </a:r>
            <a:r>
              <a:rPr lang="es-419" dirty="0" err="1"/>
              <a:t>all</a:t>
            </a:r>
            <a:r>
              <a:rPr lang="es-419" dirty="0"/>
              <a:t> –selector app=&lt;nombre&gt;</a:t>
            </a:r>
          </a:p>
          <a:p>
            <a:pPr marL="0" indent="0">
              <a:buNone/>
            </a:pPr>
            <a:r>
              <a:rPr lang="es-419" dirty="0"/>
              <a:t> </a:t>
            </a:r>
            <a:endParaRPr lang="en-US" dirty="0"/>
          </a:p>
        </p:txBody>
      </p:sp>
    </p:spTree>
    <p:extLst>
      <p:ext uri="{BB962C8B-B14F-4D97-AF65-F5344CB8AC3E}">
        <p14:creationId xmlns:p14="http://schemas.microsoft.com/office/powerpoint/2010/main" val="23490349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8AA28-D50E-4D5A-AB90-9C72630A9CB2}"/>
              </a:ext>
            </a:extLst>
          </p:cNvPr>
          <p:cNvSpPr>
            <a:spLocks noGrp="1"/>
          </p:cNvSpPr>
          <p:nvPr>
            <p:ph type="title"/>
          </p:nvPr>
        </p:nvSpPr>
        <p:spPr/>
        <p:txBody>
          <a:bodyPr/>
          <a:lstStyle/>
          <a:p>
            <a:r>
              <a:rPr lang="es-419" dirty="0"/>
              <a:t>Práctica</a:t>
            </a:r>
            <a:endParaRPr lang="en-US" dirty="0"/>
          </a:p>
        </p:txBody>
      </p:sp>
      <p:sp>
        <p:nvSpPr>
          <p:cNvPr id="3" name="Content Placeholder 2">
            <a:extLst>
              <a:ext uri="{FF2B5EF4-FFF2-40B4-BE49-F238E27FC236}">
                <a16:creationId xmlns:a16="http://schemas.microsoft.com/office/drawing/2014/main" id="{7C08D35D-A9D9-4458-86A0-32A72F91A171}"/>
              </a:ext>
            </a:extLst>
          </p:cNvPr>
          <p:cNvSpPr>
            <a:spLocks noGrp="1"/>
          </p:cNvSpPr>
          <p:nvPr>
            <p:ph idx="1"/>
          </p:nvPr>
        </p:nvSpPr>
        <p:spPr/>
        <p:txBody>
          <a:bodyPr/>
          <a:lstStyle/>
          <a:p>
            <a:r>
              <a:rPr lang="es-419" dirty="0"/>
              <a:t>Desplegar la aplicación desde imagen desde la consola</a:t>
            </a:r>
            <a:endParaRPr lang="en-US" dirty="0"/>
          </a:p>
        </p:txBody>
      </p:sp>
    </p:spTree>
    <p:extLst>
      <p:ext uri="{BB962C8B-B14F-4D97-AF65-F5344CB8AC3E}">
        <p14:creationId xmlns:p14="http://schemas.microsoft.com/office/powerpoint/2010/main" val="15468868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FC618-8D03-46FD-B677-6D4615848911}"/>
              </a:ext>
            </a:extLst>
          </p:cNvPr>
          <p:cNvSpPr>
            <a:spLocks noGrp="1"/>
          </p:cNvSpPr>
          <p:nvPr>
            <p:ph type="title"/>
          </p:nvPr>
        </p:nvSpPr>
        <p:spPr/>
        <p:txBody>
          <a:bodyPr/>
          <a:lstStyle/>
          <a:p>
            <a:r>
              <a:rPr lang="es-419" dirty="0"/>
              <a:t>El proceso </a:t>
            </a:r>
            <a:r>
              <a:rPr lang="es-419" dirty="0" err="1"/>
              <a:t>Souce-to-Image</a:t>
            </a:r>
            <a:r>
              <a:rPr lang="es-419" dirty="0"/>
              <a:t>(S2I)</a:t>
            </a:r>
            <a:endParaRPr lang="en-US" dirty="0"/>
          </a:p>
        </p:txBody>
      </p:sp>
      <p:pic>
        <p:nvPicPr>
          <p:cNvPr id="4" name="Picture 3">
            <a:extLst>
              <a:ext uri="{FF2B5EF4-FFF2-40B4-BE49-F238E27FC236}">
                <a16:creationId xmlns:a16="http://schemas.microsoft.com/office/drawing/2014/main" id="{6194E571-8A4E-47A3-A7F5-5950409E3FE0}"/>
              </a:ext>
            </a:extLst>
          </p:cNvPr>
          <p:cNvPicPr>
            <a:picLocks noChangeAspect="1"/>
          </p:cNvPicPr>
          <p:nvPr/>
        </p:nvPicPr>
        <p:blipFill>
          <a:blip r:embed="rId3"/>
          <a:stretch>
            <a:fillRect/>
          </a:stretch>
        </p:blipFill>
        <p:spPr>
          <a:xfrm>
            <a:off x="3148850" y="1690688"/>
            <a:ext cx="5894299" cy="4218903"/>
          </a:xfrm>
          <a:prstGeom prst="rect">
            <a:avLst/>
          </a:prstGeom>
        </p:spPr>
      </p:pic>
    </p:spTree>
    <p:extLst>
      <p:ext uri="{BB962C8B-B14F-4D97-AF65-F5344CB8AC3E}">
        <p14:creationId xmlns:p14="http://schemas.microsoft.com/office/powerpoint/2010/main" val="13669530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70B26-87A1-4DFD-82C3-22608C315EEF}"/>
              </a:ext>
            </a:extLst>
          </p:cNvPr>
          <p:cNvSpPr>
            <a:spLocks noGrp="1"/>
          </p:cNvSpPr>
          <p:nvPr>
            <p:ph type="title"/>
          </p:nvPr>
        </p:nvSpPr>
        <p:spPr/>
        <p:txBody>
          <a:bodyPr/>
          <a:lstStyle/>
          <a:p>
            <a:r>
              <a:rPr lang="es-419" dirty="0"/>
              <a:t>Detección de lenguaje</a:t>
            </a:r>
            <a:endParaRPr lang="en-US" dirty="0"/>
          </a:p>
        </p:txBody>
      </p:sp>
      <p:pic>
        <p:nvPicPr>
          <p:cNvPr id="4" name="Picture 3">
            <a:extLst>
              <a:ext uri="{FF2B5EF4-FFF2-40B4-BE49-F238E27FC236}">
                <a16:creationId xmlns:a16="http://schemas.microsoft.com/office/drawing/2014/main" id="{368682DC-97D1-4E65-90BA-2E9D97001BB5}"/>
              </a:ext>
            </a:extLst>
          </p:cNvPr>
          <p:cNvPicPr>
            <a:picLocks noChangeAspect="1"/>
          </p:cNvPicPr>
          <p:nvPr/>
        </p:nvPicPr>
        <p:blipFill>
          <a:blip r:embed="rId3"/>
          <a:stretch>
            <a:fillRect/>
          </a:stretch>
        </p:blipFill>
        <p:spPr>
          <a:xfrm>
            <a:off x="2081212" y="1878012"/>
            <a:ext cx="8029575" cy="3838575"/>
          </a:xfrm>
          <a:prstGeom prst="rect">
            <a:avLst/>
          </a:prstGeom>
        </p:spPr>
      </p:pic>
    </p:spTree>
    <p:extLst>
      <p:ext uri="{BB962C8B-B14F-4D97-AF65-F5344CB8AC3E}">
        <p14:creationId xmlns:p14="http://schemas.microsoft.com/office/powerpoint/2010/main" val="13869165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B919A-4CD0-49FF-8D76-7E8496808145}"/>
              </a:ext>
            </a:extLst>
          </p:cNvPr>
          <p:cNvSpPr>
            <a:spLocks noGrp="1"/>
          </p:cNvSpPr>
          <p:nvPr>
            <p:ph type="title"/>
          </p:nvPr>
        </p:nvSpPr>
        <p:spPr/>
        <p:txBody>
          <a:bodyPr/>
          <a:lstStyle/>
          <a:p>
            <a:r>
              <a:rPr lang="es-419" dirty="0"/>
              <a:t>Ejercicio (Despliegue desde código fuente)</a:t>
            </a:r>
            <a:endParaRPr lang="en-US" dirty="0"/>
          </a:p>
        </p:txBody>
      </p:sp>
      <p:sp>
        <p:nvSpPr>
          <p:cNvPr id="3" name="Content Placeholder 2">
            <a:extLst>
              <a:ext uri="{FF2B5EF4-FFF2-40B4-BE49-F238E27FC236}">
                <a16:creationId xmlns:a16="http://schemas.microsoft.com/office/drawing/2014/main" id="{927C3460-03A2-4B90-9CFF-EB600372A847}"/>
              </a:ext>
            </a:extLst>
          </p:cNvPr>
          <p:cNvSpPr>
            <a:spLocks noGrp="1"/>
          </p:cNvSpPr>
          <p:nvPr>
            <p:ph idx="1"/>
          </p:nvPr>
        </p:nvSpPr>
        <p:spPr/>
        <p:txBody>
          <a:bodyPr>
            <a:normAutofit/>
          </a:bodyPr>
          <a:lstStyle/>
          <a:p>
            <a:r>
              <a:rPr lang="es-419" dirty="0"/>
              <a:t>Crear aplicación desde código fuente local</a:t>
            </a:r>
          </a:p>
          <a:p>
            <a:endParaRPr lang="es-419" dirty="0"/>
          </a:p>
          <a:p>
            <a:pPr marL="0" indent="0">
              <a:buNone/>
            </a:pPr>
            <a:r>
              <a:rPr lang="es-419" dirty="0"/>
              <a:t>$</a:t>
            </a:r>
            <a:r>
              <a:rPr lang="en-US" dirty="0" err="1"/>
              <a:t>oc</a:t>
            </a:r>
            <a:r>
              <a:rPr lang="en-US" dirty="0"/>
              <a:t> new-app </a:t>
            </a:r>
            <a:r>
              <a:rPr lang="en-US" dirty="0">
                <a:hlinkClick r:id="rId3"/>
              </a:rPr>
              <a:t>https://github.com/jyamaniha/python_flask.git</a:t>
            </a:r>
            <a:endParaRPr lang="en-US" dirty="0"/>
          </a:p>
          <a:p>
            <a:pPr marL="0" indent="0">
              <a:buNone/>
            </a:pPr>
            <a:endParaRPr lang="es-419" dirty="0"/>
          </a:p>
          <a:p>
            <a:r>
              <a:rPr lang="es-419" dirty="0"/>
              <a:t>Ver el estado del </a:t>
            </a:r>
            <a:r>
              <a:rPr lang="es-419" dirty="0" err="1"/>
              <a:t>Build</a:t>
            </a:r>
            <a:r>
              <a:rPr lang="es-419" dirty="0"/>
              <a:t> </a:t>
            </a:r>
            <a:r>
              <a:rPr lang="es-419" dirty="0" err="1"/>
              <a:t>Config</a:t>
            </a:r>
            <a:endParaRPr lang="es-419" dirty="0"/>
          </a:p>
          <a:p>
            <a:endParaRPr lang="es-419" dirty="0"/>
          </a:p>
          <a:p>
            <a:pPr marL="0" indent="0">
              <a:buNone/>
            </a:pPr>
            <a:r>
              <a:rPr lang="es-419" dirty="0"/>
              <a:t>$</a:t>
            </a:r>
            <a:r>
              <a:rPr lang="en-US" dirty="0" err="1"/>
              <a:t>oc</a:t>
            </a:r>
            <a:r>
              <a:rPr lang="en-US" dirty="0"/>
              <a:t> log </a:t>
            </a:r>
            <a:r>
              <a:rPr lang="en-US" dirty="0" err="1"/>
              <a:t>bc</a:t>
            </a:r>
            <a:r>
              <a:rPr lang="en-US" dirty="0"/>
              <a:t>/</a:t>
            </a:r>
            <a:r>
              <a:rPr lang="en-US" dirty="0" err="1"/>
              <a:t>pythonflask</a:t>
            </a:r>
            <a:r>
              <a:rPr lang="en-US" dirty="0"/>
              <a:t> --follow</a:t>
            </a:r>
            <a:endParaRPr lang="es-419" dirty="0"/>
          </a:p>
          <a:p>
            <a:pPr marL="0" indent="0">
              <a:buNone/>
            </a:pPr>
            <a:endParaRPr lang="es-419" dirty="0"/>
          </a:p>
          <a:p>
            <a:pPr marL="0" indent="0">
              <a:buNone/>
            </a:pPr>
            <a:endParaRPr lang="es-419" dirty="0"/>
          </a:p>
          <a:p>
            <a:pPr marL="0" indent="0">
              <a:buNone/>
            </a:pPr>
            <a:endParaRPr lang="en-US" dirty="0"/>
          </a:p>
        </p:txBody>
      </p:sp>
    </p:spTree>
    <p:extLst>
      <p:ext uri="{BB962C8B-B14F-4D97-AF65-F5344CB8AC3E}">
        <p14:creationId xmlns:p14="http://schemas.microsoft.com/office/powerpoint/2010/main" val="31767252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7D87-AB2E-42DA-BB23-344813B9BD38}"/>
              </a:ext>
            </a:extLst>
          </p:cNvPr>
          <p:cNvSpPr>
            <a:spLocks noGrp="1"/>
          </p:cNvSpPr>
          <p:nvPr>
            <p:ph type="title"/>
          </p:nvPr>
        </p:nvSpPr>
        <p:spPr/>
        <p:txBody>
          <a:bodyPr/>
          <a:lstStyle/>
          <a:p>
            <a:r>
              <a:rPr lang="es-419" dirty="0"/>
              <a:t>Ejercicio  (continuación)</a:t>
            </a:r>
            <a:endParaRPr lang="en-US" dirty="0"/>
          </a:p>
        </p:txBody>
      </p:sp>
      <p:sp>
        <p:nvSpPr>
          <p:cNvPr id="3" name="Content Placeholder 2">
            <a:extLst>
              <a:ext uri="{FF2B5EF4-FFF2-40B4-BE49-F238E27FC236}">
                <a16:creationId xmlns:a16="http://schemas.microsoft.com/office/drawing/2014/main" id="{1FF4F2D2-A9B1-4A94-97A7-796673F58DE3}"/>
              </a:ext>
            </a:extLst>
          </p:cNvPr>
          <p:cNvSpPr>
            <a:spLocks noGrp="1"/>
          </p:cNvSpPr>
          <p:nvPr>
            <p:ph idx="1"/>
          </p:nvPr>
        </p:nvSpPr>
        <p:spPr/>
        <p:txBody>
          <a:bodyPr>
            <a:normAutofit fontScale="77500" lnSpcReduction="20000"/>
          </a:bodyPr>
          <a:lstStyle/>
          <a:p>
            <a:r>
              <a:rPr lang="es-419" dirty="0"/>
              <a:t>Validar que se haya creado el </a:t>
            </a:r>
            <a:r>
              <a:rPr lang="es-419" dirty="0" err="1"/>
              <a:t>pod</a:t>
            </a:r>
            <a:endParaRPr lang="es-419" dirty="0"/>
          </a:p>
          <a:p>
            <a:endParaRPr lang="en-US" dirty="0"/>
          </a:p>
          <a:p>
            <a:pPr marL="0" indent="0">
              <a:buNone/>
            </a:pPr>
            <a:r>
              <a:rPr lang="en-US" dirty="0"/>
              <a:t>$</a:t>
            </a:r>
            <a:r>
              <a:rPr lang="en-US" dirty="0" err="1"/>
              <a:t>oc</a:t>
            </a:r>
            <a:r>
              <a:rPr lang="en-US" dirty="0"/>
              <a:t> get pods</a:t>
            </a:r>
          </a:p>
          <a:p>
            <a:pPr marL="0" indent="0">
              <a:buNone/>
            </a:pPr>
            <a:endParaRPr lang="en-US" dirty="0"/>
          </a:p>
          <a:p>
            <a:r>
              <a:rPr lang="en-US" dirty="0" err="1"/>
              <a:t>Crear</a:t>
            </a:r>
            <a:r>
              <a:rPr lang="en-US" dirty="0"/>
              <a:t> la </a:t>
            </a:r>
            <a:r>
              <a:rPr lang="en-US" dirty="0" err="1"/>
              <a:t>ruta</a:t>
            </a:r>
            <a:endParaRPr lang="en-US" dirty="0"/>
          </a:p>
          <a:p>
            <a:endParaRPr lang="en-US" dirty="0"/>
          </a:p>
          <a:p>
            <a:pPr marL="0" indent="0">
              <a:buNone/>
            </a:pPr>
            <a:r>
              <a:rPr lang="en-US" dirty="0"/>
              <a:t>$</a:t>
            </a:r>
            <a:r>
              <a:rPr lang="en-US" dirty="0" err="1"/>
              <a:t>oc</a:t>
            </a:r>
            <a:r>
              <a:rPr lang="en-US" dirty="0"/>
              <a:t> get service</a:t>
            </a:r>
          </a:p>
          <a:p>
            <a:pPr marL="0" indent="0">
              <a:buNone/>
            </a:pPr>
            <a:r>
              <a:rPr lang="en-US" dirty="0"/>
              <a:t>$</a:t>
            </a:r>
            <a:r>
              <a:rPr lang="en-US" dirty="0" err="1"/>
              <a:t>oc</a:t>
            </a:r>
            <a:r>
              <a:rPr lang="en-US" dirty="0"/>
              <a:t> expose service </a:t>
            </a:r>
            <a:r>
              <a:rPr lang="en-US" dirty="0" err="1"/>
              <a:t>pythonflask</a:t>
            </a:r>
            <a:endParaRPr lang="en-US" dirty="0"/>
          </a:p>
          <a:p>
            <a:pPr marL="0" indent="0">
              <a:buNone/>
            </a:pPr>
            <a:endParaRPr lang="en-US" dirty="0"/>
          </a:p>
          <a:p>
            <a:r>
              <a:rPr lang="en-US" dirty="0"/>
              <a:t>Ver la </a:t>
            </a:r>
            <a:r>
              <a:rPr lang="en-US" dirty="0" err="1"/>
              <a:t>ruta</a:t>
            </a:r>
            <a:r>
              <a:rPr lang="en-US" dirty="0"/>
              <a:t> externa</a:t>
            </a:r>
          </a:p>
          <a:p>
            <a:pPr marL="0" indent="0">
              <a:buNone/>
            </a:pPr>
            <a:endParaRPr lang="en-US" dirty="0"/>
          </a:p>
          <a:p>
            <a:pPr marL="0" indent="0">
              <a:buNone/>
            </a:pPr>
            <a:r>
              <a:rPr lang="en-US" dirty="0"/>
              <a:t>$</a:t>
            </a:r>
            <a:r>
              <a:rPr lang="en-US" dirty="0" err="1"/>
              <a:t>oc</a:t>
            </a:r>
            <a:r>
              <a:rPr lang="en-US" dirty="0"/>
              <a:t> get route/</a:t>
            </a:r>
            <a:r>
              <a:rPr lang="en-US" dirty="0" err="1"/>
              <a:t>pythonflask</a:t>
            </a:r>
            <a:endParaRPr lang="en-US" dirty="0"/>
          </a:p>
        </p:txBody>
      </p:sp>
    </p:spTree>
    <p:extLst>
      <p:ext uri="{BB962C8B-B14F-4D97-AF65-F5344CB8AC3E}">
        <p14:creationId xmlns:p14="http://schemas.microsoft.com/office/powerpoint/2010/main" val="237809742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106D2-83E0-48B8-8C44-75EE84298CD0}"/>
              </a:ext>
            </a:extLst>
          </p:cNvPr>
          <p:cNvSpPr>
            <a:spLocks noGrp="1"/>
          </p:cNvSpPr>
          <p:nvPr>
            <p:ph type="title"/>
          </p:nvPr>
        </p:nvSpPr>
        <p:spPr/>
        <p:txBody>
          <a:bodyPr/>
          <a:lstStyle/>
          <a:p>
            <a:r>
              <a:rPr lang="es-419" dirty="0"/>
              <a:t>Ejercicio (continuación)</a:t>
            </a:r>
            <a:endParaRPr lang="en-US" dirty="0"/>
          </a:p>
        </p:txBody>
      </p:sp>
      <p:sp>
        <p:nvSpPr>
          <p:cNvPr id="3" name="Content Placeholder 2">
            <a:extLst>
              <a:ext uri="{FF2B5EF4-FFF2-40B4-BE49-F238E27FC236}">
                <a16:creationId xmlns:a16="http://schemas.microsoft.com/office/drawing/2014/main" id="{E5C7806E-5322-48C9-98B3-07E0C13A5AAA}"/>
              </a:ext>
            </a:extLst>
          </p:cNvPr>
          <p:cNvSpPr>
            <a:spLocks noGrp="1"/>
          </p:cNvSpPr>
          <p:nvPr>
            <p:ph idx="1"/>
          </p:nvPr>
        </p:nvSpPr>
        <p:spPr/>
        <p:txBody>
          <a:bodyPr>
            <a:normAutofit lnSpcReduction="10000"/>
          </a:bodyPr>
          <a:lstStyle/>
          <a:p>
            <a:r>
              <a:rPr lang="es-419" dirty="0"/>
              <a:t>Describir el servicio</a:t>
            </a:r>
          </a:p>
          <a:p>
            <a:endParaRPr lang="es-419" dirty="0"/>
          </a:p>
          <a:p>
            <a:pPr marL="0" indent="0">
              <a:buNone/>
            </a:pPr>
            <a:r>
              <a:rPr lang="es-419" dirty="0"/>
              <a:t>$</a:t>
            </a:r>
            <a:r>
              <a:rPr lang="es-419" dirty="0" err="1"/>
              <a:t>oc</a:t>
            </a:r>
            <a:r>
              <a:rPr lang="es-419" dirty="0"/>
              <a:t> describe </a:t>
            </a:r>
            <a:r>
              <a:rPr lang="es-419" dirty="0" err="1"/>
              <a:t>service</a:t>
            </a:r>
            <a:r>
              <a:rPr lang="es-419" dirty="0"/>
              <a:t> </a:t>
            </a:r>
            <a:r>
              <a:rPr lang="es-419" dirty="0" err="1"/>
              <a:t>pythonflask</a:t>
            </a:r>
            <a:endParaRPr lang="es-419" dirty="0"/>
          </a:p>
          <a:p>
            <a:pPr marL="0" indent="0">
              <a:buNone/>
            </a:pPr>
            <a:endParaRPr lang="es-419" dirty="0"/>
          </a:p>
          <a:p>
            <a:r>
              <a:rPr lang="es-419" dirty="0"/>
              <a:t>Editar el servicio para cambiar el </a:t>
            </a:r>
            <a:r>
              <a:rPr lang="es-419" dirty="0" err="1"/>
              <a:t>TargetPort</a:t>
            </a:r>
            <a:endParaRPr lang="es-419" dirty="0"/>
          </a:p>
          <a:p>
            <a:pPr marL="0" indent="0">
              <a:buNone/>
            </a:pPr>
            <a:endParaRPr lang="es-419" dirty="0"/>
          </a:p>
          <a:p>
            <a:pPr marL="0" indent="0">
              <a:buNone/>
            </a:pPr>
            <a:r>
              <a:rPr lang="es-419" dirty="0"/>
              <a:t>$</a:t>
            </a:r>
            <a:r>
              <a:rPr lang="es-419" dirty="0" err="1"/>
              <a:t>oc</a:t>
            </a:r>
            <a:r>
              <a:rPr lang="es-419" dirty="0"/>
              <a:t> </a:t>
            </a:r>
            <a:r>
              <a:rPr lang="es-419" dirty="0" err="1"/>
              <a:t>edit</a:t>
            </a:r>
            <a:r>
              <a:rPr lang="es-419" dirty="0"/>
              <a:t> </a:t>
            </a:r>
            <a:r>
              <a:rPr lang="es-419" dirty="0" err="1"/>
              <a:t>service</a:t>
            </a:r>
            <a:r>
              <a:rPr lang="es-419" dirty="0"/>
              <a:t> </a:t>
            </a:r>
            <a:r>
              <a:rPr lang="es-419" dirty="0" err="1"/>
              <a:t>pythonflask</a:t>
            </a:r>
            <a:endParaRPr lang="es-419" dirty="0"/>
          </a:p>
          <a:p>
            <a:pPr marL="0" indent="0">
              <a:buNone/>
            </a:pPr>
            <a:endParaRPr lang="es-419" dirty="0"/>
          </a:p>
          <a:p>
            <a:r>
              <a:rPr lang="es-419" dirty="0"/>
              <a:t>Probar la ruta externa de la aplicación</a:t>
            </a:r>
            <a:endParaRPr lang="en-US" dirty="0"/>
          </a:p>
        </p:txBody>
      </p:sp>
    </p:spTree>
    <p:extLst>
      <p:ext uri="{BB962C8B-B14F-4D97-AF65-F5344CB8AC3E}">
        <p14:creationId xmlns:p14="http://schemas.microsoft.com/office/powerpoint/2010/main" val="15491618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A5D29-F3B4-4348-A124-9BB97E8C5670}"/>
              </a:ext>
            </a:extLst>
          </p:cNvPr>
          <p:cNvSpPr>
            <a:spLocks noGrp="1"/>
          </p:cNvSpPr>
          <p:nvPr>
            <p:ph type="title"/>
          </p:nvPr>
        </p:nvSpPr>
        <p:spPr/>
        <p:txBody>
          <a:bodyPr/>
          <a:lstStyle/>
          <a:p>
            <a:r>
              <a:rPr lang="es-419" dirty="0"/>
              <a:t>Ejercicio (continuación)</a:t>
            </a:r>
            <a:endParaRPr lang="en-US" dirty="0"/>
          </a:p>
        </p:txBody>
      </p:sp>
      <p:sp>
        <p:nvSpPr>
          <p:cNvPr id="3" name="Content Placeholder 2">
            <a:extLst>
              <a:ext uri="{FF2B5EF4-FFF2-40B4-BE49-F238E27FC236}">
                <a16:creationId xmlns:a16="http://schemas.microsoft.com/office/drawing/2014/main" id="{26E1081D-58F9-4D0C-84D4-CB29E45A9AAC}"/>
              </a:ext>
            </a:extLst>
          </p:cNvPr>
          <p:cNvSpPr>
            <a:spLocks noGrp="1"/>
          </p:cNvSpPr>
          <p:nvPr>
            <p:ph idx="1"/>
          </p:nvPr>
        </p:nvSpPr>
        <p:spPr/>
        <p:txBody>
          <a:bodyPr/>
          <a:lstStyle/>
          <a:p>
            <a:r>
              <a:rPr lang="es-419" dirty="0"/>
              <a:t>Eliminar los recursos</a:t>
            </a:r>
            <a:endParaRPr lang="en-US" dirty="0"/>
          </a:p>
        </p:txBody>
      </p:sp>
    </p:spTree>
    <p:extLst>
      <p:ext uri="{BB962C8B-B14F-4D97-AF65-F5344CB8AC3E}">
        <p14:creationId xmlns:p14="http://schemas.microsoft.com/office/powerpoint/2010/main" val="77586745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8AA28-D50E-4D5A-AB90-9C72630A9CB2}"/>
              </a:ext>
            </a:extLst>
          </p:cNvPr>
          <p:cNvSpPr>
            <a:spLocks noGrp="1"/>
          </p:cNvSpPr>
          <p:nvPr>
            <p:ph type="title"/>
          </p:nvPr>
        </p:nvSpPr>
        <p:spPr/>
        <p:txBody>
          <a:bodyPr/>
          <a:lstStyle/>
          <a:p>
            <a:r>
              <a:rPr lang="es-419" dirty="0"/>
              <a:t>Práctica</a:t>
            </a:r>
            <a:endParaRPr lang="en-US" dirty="0"/>
          </a:p>
        </p:txBody>
      </p:sp>
      <p:sp>
        <p:nvSpPr>
          <p:cNvPr id="3" name="Content Placeholder 2">
            <a:extLst>
              <a:ext uri="{FF2B5EF4-FFF2-40B4-BE49-F238E27FC236}">
                <a16:creationId xmlns:a16="http://schemas.microsoft.com/office/drawing/2014/main" id="{7C08D35D-A9D9-4458-86A0-32A72F91A171}"/>
              </a:ext>
            </a:extLst>
          </p:cNvPr>
          <p:cNvSpPr>
            <a:spLocks noGrp="1"/>
          </p:cNvSpPr>
          <p:nvPr>
            <p:ph idx="1"/>
          </p:nvPr>
        </p:nvSpPr>
        <p:spPr/>
        <p:txBody>
          <a:bodyPr/>
          <a:lstStyle/>
          <a:p>
            <a:r>
              <a:rPr lang="es-419" dirty="0"/>
              <a:t>Desplegar la aplicación desde código fuente desde la consola</a:t>
            </a:r>
            <a:endParaRPr lang="en-US" dirty="0"/>
          </a:p>
        </p:txBody>
      </p:sp>
    </p:spTree>
    <p:extLst>
      <p:ext uri="{BB962C8B-B14F-4D97-AF65-F5344CB8AC3E}">
        <p14:creationId xmlns:p14="http://schemas.microsoft.com/office/powerpoint/2010/main" val="6826119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AAB45-EED1-40BE-80D8-0062611811EF}"/>
              </a:ext>
            </a:extLst>
          </p:cNvPr>
          <p:cNvSpPr>
            <a:spLocks noGrp="1"/>
          </p:cNvSpPr>
          <p:nvPr>
            <p:ph type="title"/>
          </p:nvPr>
        </p:nvSpPr>
        <p:spPr/>
        <p:txBody>
          <a:bodyPr>
            <a:normAutofit/>
          </a:bodyPr>
          <a:lstStyle/>
          <a:p>
            <a:r>
              <a:rPr lang="es-419" sz="3600" dirty="0"/>
              <a:t>Relación entre </a:t>
            </a:r>
            <a:r>
              <a:rPr lang="es-419" sz="3600" dirty="0" err="1"/>
              <a:t>Build</a:t>
            </a:r>
            <a:r>
              <a:rPr lang="es-419" sz="3600" dirty="0"/>
              <a:t> y </a:t>
            </a:r>
            <a:r>
              <a:rPr lang="es-419" sz="3600" dirty="0" err="1"/>
              <a:t>Deployment</a:t>
            </a:r>
            <a:r>
              <a:rPr lang="es-419" sz="3600" dirty="0"/>
              <a:t> </a:t>
            </a:r>
            <a:r>
              <a:rPr lang="es-419" sz="3600" dirty="0" err="1"/>
              <a:t>Configurations</a:t>
            </a:r>
            <a:endParaRPr lang="en-US" sz="3600" dirty="0"/>
          </a:p>
        </p:txBody>
      </p:sp>
      <p:sp>
        <p:nvSpPr>
          <p:cNvPr id="3" name="Content Placeholder 2">
            <a:extLst>
              <a:ext uri="{FF2B5EF4-FFF2-40B4-BE49-F238E27FC236}">
                <a16:creationId xmlns:a16="http://schemas.microsoft.com/office/drawing/2014/main" id="{915301B7-7B9A-475C-82E6-31261BEED50B}"/>
              </a:ext>
            </a:extLst>
          </p:cNvPr>
          <p:cNvSpPr>
            <a:spLocks noGrp="1"/>
          </p:cNvSpPr>
          <p:nvPr>
            <p:ph idx="1"/>
          </p:nvPr>
        </p:nvSpPr>
        <p:spPr/>
        <p:txBody>
          <a:bodyPr/>
          <a:lstStyle/>
          <a:p>
            <a:pPr marL="0" indent="0">
              <a:buNone/>
            </a:pPr>
            <a:r>
              <a:rPr lang="es-419" dirty="0"/>
              <a:t>El </a:t>
            </a:r>
            <a:r>
              <a:rPr lang="es-419" dirty="0" err="1"/>
              <a:t>pod</a:t>
            </a:r>
            <a:r>
              <a:rPr lang="es-419" dirty="0"/>
              <a:t> de </a:t>
            </a:r>
            <a:r>
              <a:rPr lang="es-419" dirty="0" err="1"/>
              <a:t>BuildConfig</a:t>
            </a:r>
            <a:r>
              <a:rPr lang="es-419" dirty="0"/>
              <a:t> es responsable de crear imágenes en </a:t>
            </a:r>
            <a:r>
              <a:rPr lang="es-419" dirty="0" err="1"/>
              <a:t>OpenShift</a:t>
            </a:r>
            <a:r>
              <a:rPr lang="es-419" dirty="0"/>
              <a:t> y subirlas al repositorio interno. Cualquier </a:t>
            </a:r>
            <a:r>
              <a:rPr lang="es-419" dirty="0" err="1"/>
              <a:t>update</a:t>
            </a:r>
            <a:r>
              <a:rPr lang="es-419" dirty="0"/>
              <a:t> en el código fuente requiere realizar un nuevo </a:t>
            </a:r>
            <a:r>
              <a:rPr lang="es-419" dirty="0" err="1"/>
              <a:t>build</a:t>
            </a:r>
            <a:r>
              <a:rPr lang="es-419" dirty="0"/>
              <a:t>.</a:t>
            </a:r>
          </a:p>
          <a:p>
            <a:pPr marL="0" indent="0">
              <a:buNone/>
            </a:pPr>
            <a:endParaRPr lang="es-419" dirty="0"/>
          </a:p>
          <a:p>
            <a:pPr marL="0" indent="0">
              <a:buNone/>
            </a:pPr>
            <a:r>
              <a:rPr lang="es-419" dirty="0"/>
              <a:t>El </a:t>
            </a:r>
            <a:r>
              <a:rPr lang="es-419" dirty="0" err="1"/>
              <a:t>pod</a:t>
            </a:r>
            <a:r>
              <a:rPr lang="es-419" dirty="0"/>
              <a:t> de </a:t>
            </a:r>
            <a:r>
              <a:rPr lang="es-419" dirty="0" err="1"/>
              <a:t>DeploymentConfig</a:t>
            </a:r>
            <a:r>
              <a:rPr lang="es-419" dirty="0"/>
              <a:t> es responsable de desplegar los </a:t>
            </a:r>
            <a:r>
              <a:rPr lang="es-419" dirty="0" err="1"/>
              <a:t>pods</a:t>
            </a:r>
            <a:r>
              <a:rPr lang="es-419" dirty="0"/>
              <a:t> en </a:t>
            </a:r>
            <a:r>
              <a:rPr lang="es-419" dirty="0" err="1"/>
              <a:t>OpenShift</a:t>
            </a:r>
            <a:r>
              <a:rPr lang="es-419" dirty="0"/>
              <a:t>. El resultado del </a:t>
            </a:r>
            <a:r>
              <a:rPr lang="es-419" dirty="0" err="1"/>
              <a:t>DeploymentConfig</a:t>
            </a:r>
            <a:r>
              <a:rPr lang="es-419" dirty="0"/>
              <a:t> es la creación de </a:t>
            </a:r>
            <a:r>
              <a:rPr lang="es-419" dirty="0" err="1"/>
              <a:t>pods</a:t>
            </a:r>
            <a:r>
              <a:rPr lang="es-419" dirty="0"/>
              <a:t> creados a partir de una imagen del repositorio interno.</a:t>
            </a:r>
            <a:endParaRPr lang="en-US" dirty="0"/>
          </a:p>
        </p:txBody>
      </p:sp>
    </p:spTree>
    <p:extLst>
      <p:ext uri="{BB962C8B-B14F-4D97-AF65-F5344CB8AC3E}">
        <p14:creationId xmlns:p14="http://schemas.microsoft.com/office/powerpoint/2010/main" val="10480988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F5CDB-9CD1-4F95-A102-311B27513280}"/>
              </a:ext>
            </a:extLst>
          </p:cNvPr>
          <p:cNvSpPr>
            <a:spLocks noGrp="1"/>
          </p:cNvSpPr>
          <p:nvPr>
            <p:ph type="title"/>
          </p:nvPr>
        </p:nvSpPr>
        <p:spPr/>
        <p:txBody>
          <a:bodyPr/>
          <a:lstStyle/>
          <a:p>
            <a:r>
              <a:rPr lang="es-419" dirty="0" err="1"/>
              <a:t>Review</a:t>
            </a:r>
            <a:endParaRPr lang="en-US" dirty="0"/>
          </a:p>
        </p:txBody>
      </p:sp>
      <p:sp>
        <p:nvSpPr>
          <p:cNvPr id="3" name="Content Placeholder 2">
            <a:extLst>
              <a:ext uri="{FF2B5EF4-FFF2-40B4-BE49-F238E27FC236}">
                <a16:creationId xmlns:a16="http://schemas.microsoft.com/office/drawing/2014/main" id="{C0C19CDA-0C99-42D8-892B-C4CEFB27C2B6}"/>
              </a:ext>
            </a:extLst>
          </p:cNvPr>
          <p:cNvSpPr>
            <a:spLocks noGrp="1"/>
          </p:cNvSpPr>
          <p:nvPr>
            <p:ph idx="1"/>
          </p:nvPr>
        </p:nvSpPr>
        <p:spPr/>
        <p:txBody>
          <a:bodyPr/>
          <a:lstStyle/>
          <a:p>
            <a:r>
              <a:rPr lang="es-419" dirty="0"/>
              <a:t>Que es </a:t>
            </a:r>
            <a:r>
              <a:rPr lang="es-419" dirty="0" err="1"/>
              <a:t>OpenShift</a:t>
            </a:r>
            <a:r>
              <a:rPr lang="es-419" dirty="0"/>
              <a:t>?</a:t>
            </a:r>
          </a:p>
          <a:p>
            <a:r>
              <a:rPr lang="es-419" dirty="0"/>
              <a:t>Familia de productos</a:t>
            </a:r>
          </a:p>
          <a:p>
            <a:r>
              <a:rPr lang="es-419" dirty="0" err="1"/>
              <a:t>Operators</a:t>
            </a:r>
            <a:endParaRPr lang="es-419" dirty="0"/>
          </a:p>
          <a:p>
            <a:r>
              <a:rPr lang="es-419" dirty="0"/>
              <a:t>Tipos de instalación</a:t>
            </a:r>
          </a:p>
          <a:p>
            <a:r>
              <a:rPr lang="es-419" dirty="0"/>
              <a:t>Creando aplicaciones (Desde imagen y S2I)</a:t>
            </a:r>
          </a:p>
          <a:p>
            <a:endParaRPr lang="es-419" dirty="0"/>
          </a:p>
          <a:p>
            <a:endParaRPr lang="en-US" dirty="0"/>
          </a:p>
        </p:txBody>
      </p:sp>
    </p:spTree>
    <p:extLst>
      <p:ext uri="{BB962C8B-B14F-4D97-AF65-F5344CB8AC3E}">
        <p14:creationId xmlns:p14="http://schemas.microsoft.com/office/powerpoint/2010/main" val="81644457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7540832-49BF-46D8-832D-3A2EB0667EC5}"/>
              </a:ext>
            </a:extLst>
          </p:cNvPr>
          <p:cNvPicPr>
            <a:picLocks noChangeAspect="1"/>
          </p:cNvPicPr>
          <p:nvPr/>
        </p:nvPicPr>
        <p:blipFill>
          <a:blip r:embed="rId2"/>
          <a:stretch>
            <a:fillRect/>
          </a:stretch>
        </p:blipFill>
        <p:spPr>
          <a:xfrm>
            <a:off x="1024926" y="383936"/>
            <a:ext cx="9775346" cy="6090127"/>
          </a:xfrm>
          <a:prstGeom prst="rect">
            <a:avLst/>
          </a:prstGeom>
        </p:spPr>
      </p:pic>
    </p:spTree>
    <p:extLst>
      <p:ext uri="{BB962C8B-B14F-4D97-AF65-F5344CB8AC3E}">
        <p14:creationId xmlns:p14="http://schemas.microsoft.com/office/powerpoint/2010/main" val="16712450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C75E2-AFC0-42F4-8699-86792258B359}"/>
              </a:ext>
            </a:extLst>
          </p:cNvPr>
          <p:cNvSpPr>
            <a:spLocks noGrp="1"/>
          </p:cNvSpPr>
          <p:nvPr>
            <p:ph type="title"/>
          </p:nvPr>
        </p:nvSpPr>
        <p:spPr/>
        <p:txBody>
          <a:bodyPr/>
          <a:lstStyle/>
          <a:p>
            <a:r>
              <a:rPr lang="es-419" dirty="0"/>
              <a:t>Red </a:t>
            </a:r>
            <a:r>
              <a:rPr lang="es-419" dirty="0" err="1"/>
              <a:t>Hat</a:t>
            </a:r>
            <a:r>
              <a:rPr lang="es-419" dirty="0"/>
              <a:t> </a:t>
            </a:r>
            <a:r>
              <a:rPr lang="es-419" dirty="0" err="1"/>
              <a:t>OpenShift</a:t>
            </a:r>
            <a:r>
              <a:rPr lang="es-419" dirty="0"/>
              <a:t> </a:t>
            </a:r>
            <a:r>
              <a:rPr lang="es-419" dirty="0" err="1"/>
              <a:t>product</a:t>
            </a:r>
            <a:r>
              <a:rPr lang="es-419" dirty="0"/>
              <a:t> </a:t>
            </a:r>
            <a:r>
              <a:rPr lang="es-419" dirty="0" err="1"/>
              <a:t>family</a:t>
            </a:r>
            <a:endParaRPr lang="en-US" dirty="0"/>
          </a:p>
        </p:txBody>
      </p:sp>
      <p:sp>
        <p:nvSpPr>
          <p:cNvPr id="3" name="Content Placeholder 2">
            <a:extLst>
              <a:ext uri="{FF2B5EF4-FFF2-40B4-BE49-F238E27FC236}">
                <a16:creationId xmlns:a16="http://schemas.microsoft.com/office/drawing/2014/main" id="{F37DB838-E41D-4D59-AEDB-5081C51C7B1C}"/>
              </a:ext>
            </a:extLst>
          </p:cNvPr>
          <p:cNvSpPr>
            <a:spLocks noGrp="1"/>
          </p:cNvSpPr>
          <p:nvPr>
            <p:ph idx="1"/>
          </p:nvPr>
        </p:nvSpPr>
        <p:spPr/>
        <p:txBody>
          <a:bodyPr/>
          <a:lstStyle/>
          <a:p>
            <a:r>
              <a:rPr lang="es-419" dirty="0"/>
              <a:t>Red </a:t>
            </a:r>
            <a:r>
              <a:rPr lang="es-419" dirty="0" err="1"/>
              <a:t>Hat</a:t>
            </a:r>
            <a:r>
              <a:rPr lang="es-419" dirty="0"/>
              <a:t> </a:t>
            </a:r>
            <a:r>
              <a:rPr lang="es-419" dirty="0" err="1"/>
              <a:t>OpenShift</a:t>
            </a:r>
            <a:r>
              <a:rPr lang="es-419" dirty="0"/>
              <a:t> Container </a:t>
            </a:r>
            <a:r>
              <a:rPr lang="es-419" dirty="0" err="1"/>
              <a:t>Platform</a:t>
            </a:r>
            <a:endParaRPr lang="es-419" dirty="0"/>
          </a:p>
          <a:p>
            <a:r>
              <a:rPr lang="es-419" dirty="0"/>
              <a:t>Red </a:t>
            </a:r>
            <a:r>
              <a:rPr lang="es-419" dirty="0" err="1"/>
              <a:t>Hat</a:t>
            </a:r>
            <a:r>
              <a:rPr lang="es-419" dirty="0"/>
              <a:t> </a:t>
            </a:r>
            <a:r>
              <a:rPr lang="es-419" dirty="0" err="1"/>
              <a:t>OpenShift</a:t>
            </a:r>
            <a:r>
              <a:rPr lang="es-419" dirty="0"/>
              <a:t> </a:t>
            </a:r>
            <a:r>
              <a:rPr lang="es-419" dirty="0" err="1"/>
              <a:t>Dedicated</a:t>
            </a:r>
            <a:endParaRPr lang="es-419" dirty="0"/>
          </a:p>
          <a:p>
            <a:r>
              <a:rPr lang="es-419" dirty="0"/>
              <a:t>Red </a:t>
            </a:r>
            <a:r>
              <a:rPr lang="es-419" dirty="0" err="1"/>
              <a:t>Hat</a:t>
            </a:r>
            <a:r>
              <a:rPr lang="es-419" dirty="0"/>
              <a:t> </a:t>
            </a:r>
            <a:r>
              <a:rPr lang="es-419" dirty="0" err="1"/>
              <a:t>OpenShift</a:t>
            </a:r>
            <a:r>
              <a:rPr lang="es-419" dirty="0"/>
              <a:t> Online</a:t>
            </a:r>
          </a:p>
          <a:p>
            <a:r>
              <a:rPr lang="es-419" dirty="0"/>
              <a:t>Red </a:t>
            </a:r>
            <a:r>
              <a:rPr lang="es-419" dirty="0" err="1"/>
              <a:t>Hat</a:t>
            </a:r>
            <a:r>
              <a:rPr lang="es-419" dirty="0"/>
              <a:t> </a:t>
            </a:r>
            <a:r>
              <a:rPr lang="es-419" dirty="0" err="1"/>
              <a:t>Code</a:t>
            </a:r>
            <a:r>
              <a:rPr lang="es-419" dirty="0"/>
              <a:t> </a:t>
            </a:r>
            <a:r>
              <a:rPr lang="es-419" dirty="0" err="1"/>
              <a:t>Ready</a:t>
            </a:r>
            <a:r>
              <a:rPr lang="es-419" dirty="0"/>
              <a:t> </a:t>
            </a:r>
            <a:r>
              <a:rPr lang="es-419" dirty="0" err="1"/>
              <a:t>Containers</a:t>
            </a:r>
            <a:endParaRPr lang="en-US" dirty="0"/>
          </a:p>
        </p:txBody>
      </p:sp>
    </p:spTree>
    <p:extLst>
      <p:ext uri="{BB962C8B-B14F-4D97-AF65-F5344CB8AC3E}">
        <p14:creationId xmlns:p14="http://schemas.microsoft.com/office/powerpoint/2010/main" val="213402520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6EC57-1545-49EA-90A5-A552CD78B064}"/>
              </a:ext>
            </a:extLst>
          </p:cNvPr>
          <p:cNvSpPr>
            <a:spLocks noGrp="1"/>
          </p:cNvSpPr>
          <p:nvPr>
            <p:ph type="title"/>
          </p:nvPr>
        </p:nvSpPr>
        <p:spPr/>
        <p:txBody>
          <a:bodyPr/>
          <a:lstStyle/>
          <a:p>
            <a:r>
              <a:rPr lang="es-419" dirty="0"/>
              <a:t>Instalación</a:t>
            </a:r>
            <a:endParaRPr lang="en-US" dirty="0"/>
          </a:p>
        </p:txBody>
      </p:sp>
      <p:sp>
        <p:nvSpPr>
          <p:cNvPr id="3" name="Content Placeholder 2">
            <a:extLst>
              <a:ext uri="{FF2B5EF4-FFF2-40B4-BE49-F238E27FC236}">
                <a16:creationId xmlns:a16="http://schemas.microsoft.com/office/drawing/2014/main" id="{9F3121DE-B880-431C-BCDD-7DBE5710FCD9}"/>
              </a:ext>
            </a:extLst>
          </p:cNvPr>
          <p:cNvSpPr>
            <a:spLocks noGrp="1"/>
          </p:cNvSpPr>
          <p:nvPr>
            <p:ph idx="1"/>
          </p:nvPr>
        </p:nvSpPr>
        <p:spPr/>
        <p:txBody>
          <a:bodyPr/>
          <a:lstStyle/>
          <a:p>
            <a:r>
              <a:rPr lang="es-419" dirty="0"/>
              <a:t>Existen dos tipos de instalación:</a:t>
            </a:r>
          </a:p>
          <a:p>
            <a:endParaRPr lang="es-419" dirty="0"/>
          </a:p>
          <a:p>
            <a:r>
              <a:rPr lang="es-419" dirty="0" err="1"/>
              <a:t>Installer</a:t>
            </a:r>
            <a:r>
              <a:rPr lang="es-419" dirty="0"/>
              <a:t> </a:t>
            </a:r>
            <a:r>
              <a:rPr lang="es-419" dirty="0" err="1"/>
              <a:t>Provisioned</a:t>
            </a:r>
            <a:r>
              <a:rPr lang="es-419" dirty="0"/>
              <a:t> </a:t>
            </a:r>
            <a:r>
              <a:rPr lang="es-419" dirty="0" err="1"/>
              <a:t>Infrastructure</a:t>
            </a:r>
            <a:r>
              <a:rPr lang="es-419" dirty="0"/>
              <a:t> (IPI)</a:t>
            </a:r>
          </a:p>
          <a:p>
            <a:r>
              <a:rPr lang="es-419" dirty="0" err="1"/>
              <a:t>User</a:t>
            </a:r>
            <a:r>
              <a:rPr lang="es-419" dirty="0"/>
              <a:t> </a:t>
            </a:r>
            <a:r>
              <a:rPr lang="es-419" dirty="0" err="1"/>
              <a:t>Provisioned</a:t>
            </a:r>
            <a:r>
              <a:rPr lang="es-419" dirty="0"/>
              <a:t> </a:t>
            </a:r>
            <a:r>
              <a:rPr lang="es-419" dirty="0" err="1"/>
              <a:t>Infrastructure</a:t>
            </a:r>
            <a:r>
              <a:rPr lang="es-419" dirty="0"/>
              <a:t> (UPI)</a:t>
            </a:r>
            <a:endParaRPr lang="en-US" dirty="0"/>
          </a:p>
        </p:txBody>
      </p:sp>
    </p:spTree>
    <p:extLst>
      <p:ext uri="{BB962C8B-B14F-4D97-AF65-F5344CB8AC3E}">
        <p14:creationId xmlns:p14="http://schemas.microsoft.com/office/powerpoint/2010/main" val="1485937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FBFF9-5C96-4D2E-B9E4-AB86FCECFC32}"/>
              </a:ext>
            </a:extLst>
          </p:cNvPr>
          <p:cNvSpPr>
            <a:spLocks noGrp="1"/>
          </p:cNvSpPr>
          <p:nvPr>
            <p:ph type="title"/>
          </p:nvPr>
        </p:nvSpPr>
        <p:spPr/>
        <p:txBody>
          <a:bodyPr/>
          <a:lstStyle/>
          <a:p>
            <a:r>
              <a:rPr lang="es-419" dirty="0"/>
              <a:t>Ejercicio (Despliegue desde </a:t>
            </a:r>
            <a:r>
              <a:rPr lang="es-419" dirty="0" err="1"/>
              <a:t>Dockerfile</a:t>
            </a:r>
            <a:r>
              <a:rPr lang="es-419" dirty="0"/>
              <a:t>)</a:t>
            </a:r>
            <a:endParaRPr lang="en-US" dirty="0"/>
          </a:p>
        </p:txBody>
      </p:sp>
      <p:sp>
        <p:nvSpPr>
          <p:cNvPr id="3" name="Content Placeholder 2">
            <a:extLst>
              <a:ext uri="{FF2B5EF4-FFF2-40B4-BE49-F238E27FC236}">
                <a16:creationId xmlns:a16="http://schemas.microsoft.com/office/drawing/2014/main" id="{086411D7-89F3-4768-B7CF-43870F194FC9}"/>
              </a:ext>
            </a:extLst>
          </p:cNvPr>
          <p:cNvSpPr>
            <a:spLocks noGrp="1"/>
          </p:cNvSpPr>
          <p:nvPr>
            <p:ph idx="1"/>
          </p:nvPr>
        </p:nvSpPr>
        <p:spPr/>
        <p:txBody>
          <a:bodyPr>
            <a:normAutofit lnSpcReduction="10000"/>
          </a:bodyPr>
          <a:lstStyle/>
          <a:p>
            <a:r>
              <a:rPr lang="es-419" dirty="0"/>
              <a:t>Desde el portal seleccionar + </a:t>
            </a:r>
            <a:r>
              <a:rPr lang="es-419" dirty="0" err="1"/>
              <a:t>Add</a:t>
            </a:r>
            <a:endParaRPr lang="es-419" dirty="0"/>
          </a:p>
          <a:p>
            <a:endParaRPr lang="es-419" dirty="0"/>
          </a:p>
          <a:p>
            <a:r>
              <a:rPr lang="es-419" dirty="0"/>
              <a:t>Seleccionar opción </a:t>
            </a:r>
            <a:r>
              <a:rPr lang="es-419" dirty="0" err="1"/>
              <a:t>From</a:t>
            </a:r>
            <a:r>
              <a:rPr lang="es-419" dirty="0"/>
              <a:t> </a:t>
            </a:r>
            <a:r>
              <a:rPr lang="es-419" dirty="0" err="1"/>
              <a:t>Dockerfile</a:t>
            </a:r>
            <a:endParaRPr lang="es-419" dirty="0"/>
          </a:p>
          <a:p>
            <a:endParaRPr lang="es-419" dirty="0"/>
          </a:p>
          <a:p>
            <a:r>
              <a:rPr lang="es-419" dirty="0"/>
              <a:t>En Git Repo URL </a:t>
            </a:r>
            <a:r>
              <a:rPr lang="en-US" dirty="0">
                <a:hlinkClick r:id="rId3"/>
              </a:rPr>
              <a:t>https://github.com/jyamaniha/ocp_dockerfile.git</a:t>
            </a:r>
            <a:endParaRPr lang="en-US" dirty="0"/>
          </a:p>
          <a:p>
            <a:endParaRPr lang="en-US" dirty="0"/>
          </a:p>
          <a:p>
            <a:r>
              <a:rPr lang="en-US" dirty="0" err="1"/>
              <a:t>Cambiar</a:t>
            </a:r>
            <a:r>
              <a:rPr lang="en-US" dirty="0"/>
              <a:t> el Container Port a 80</a:t>
            </a:r>
          </a:p>
          <a:p>
            <a:endParaRPr lang="en-US" dirty="0"/>
          </a:p>
          <a:p>
            <a:r>
              <a:rPr lang="en-US" dirty="0" err="1"/>
              <a:t>Dejar</a:t>
            </a:r>
            <a:r>
              <a:rPr lang="en-US" dirty="0"/>
              <a:t> los </a:t>
            </a:r>
            <a:r>
              <a:rPr lang="en-US" dirty="0" err="1"/>
              <a:t>demas</a:t>
            </a:r>
            <a:r>
              <a:rPr lang="en-US" dirty="0"/>
              <a:t> </a:t>
            </a:r>
            <a:r>
              <a:rPr lang="en-US" dirty="0" err="1"/>
              <a:t>valores</a:t>
            </a:r>
            <a:r>
              <a:rPr lang="en-US" dirty="0"/>
              <a:t> por </a:t>
            </a:r>
            <a:r>
              <a:rPr lang="en-US" dirty="0" err="1"/>
              <a:t>defecto</a:t>
            </a:r>
            <a:r>
              <a:rPr lang="en-US" dirty="0"/>
              <a:t> y Create</a:t>
            </a:r>
            <a:endParaRPr lang="es-419" dirty="0"/>
          </a:p>
          <a:p>
            <a:endParaRPr lang="es-419" dirty="0"/>
          </a:p>
          <a:p>
            <a:endParaRPr lang="es-419" dirty="0"/>
          </a:p>
          <a:p>
            <a:pPr marL="0" indent="0">
              <a:buNone/>
            </a:pPr>
            <a:endParaRPr lang="es-419" dirty="0"/>
          </a:p>
          <a:p>
            <a:endParaRPr lang="en-US" dirty="0"/>
          </a:p>
        </p:txBody>
      </p:sp>
    </p:spTree>
    <p:extLst>
      <p:ext uri="{BB962C8B-B14F-4D97-AF65-F5344CB8AC3E}">
        <p14:creationId xmlns:p14="http://schemas.microsoft.com/office/powerpoint/2010/main" val="337738907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03F1B-911C-427A-B3A4-8AB6E6C554DF}"/>
              </a:ext>
            </a:extLst>
          </p:cNvPr>
          <p:cNvSpPr>
            <a:spLocks noGrp="1"/>
          </p:cNvSpPr>
          <p:nvPr>
            <p:ph type="title"/>
          </p:nvPr>
        </p:nvSpPr>
        <p:spPr/>
        <p:txBody>
          <a:bodyPr/>
          <a:lstStyle/>
          <a:p>
            <a:r>
              <a:rPr lang="es-419" dirty="0"/>
              <a:t>Ejercicio (continuación)</a:t>
            </a:r>
            <a:endParaRPr lang="en-US" dirty="0"/>
          </a:p>
        </p:txBody>
      </p:sp>
      <p:sp>
        <p:nvSpPr>
          <p:cNvPr id="3" name="Content Placeholder 2">
            <a:extLst>
              <a:ext uri="{FF2B5EF4-FFF2-40B4-BE49-F238E27FC236}">
                <a16:creationId xmlns:a16="http://schemas.microsoft.com/office/drawing/2014/main" id="{3CD7D235-CD4D-4CBE-8E3B-DB0EE9575428}"/>
              </a:ext>
            </a:extLst>
          </p:cNvPr>
          <p:cNvSpPr>
            <a:spLocks noGrp="1"/>
          </p:cNvSpPr>
          <p:nvPr>
            <p:ph idx="1"/>
          </p:nvPr>
        </p:nvSpPr>
        <p:spPr/>
        <p:txBody>
          <a:bodyPr/>
          <a:lstStyle/>
          <a:p>
            <a:r>
              <a:rPr lang="es-419" dirty="0"/>
              <a:t>Si el </a:t>
            </a:r>
            <a:r>
              <a:rPr lang="es-419" dirty="0" err="1"/>
              <a:t>Pod</a:t>
            </a:r>
            <a:r>
              <a:rPr lang="es-419" dirty="0"/>
              <a:t> falla ver los logs</a:t>
            </a:r>
          </a:p>
          <a:p>
            <a:endParaRPr lang="es-419" dirty="0"/>
          </a:p>
          <a:p>
            <a:endParaRPr lang="es-419" dirty="0"/>
          </a:p>
          <a:p>
            <a:endParaRPr lang="es-419" dirty="0"/>
          </a:p>
          <a:p>
            <a:endParaRPr lang="es-419" dirty="0"/>
          </a:p>
          <a:p>
            <a:r>
              <a:rPr lang="es-419" dirty="0"/>
              <a:t>Que error muestra los logs?</a:t>
            </a:r>
          </a:p>
          <a:p>
            <a:endParaRPr lang="es-419" dirty="0"/>
          </a:p>
          <a:p>
            <a:r>
              <a:rPr lang="es-419" dirty="0"/>
              <a:t>Como corregir el error?</a:t>
            </a:r>
          </a:p>
          <a:p>
            <a:pPr marL="0" indent="0">
              <a:buNone/>
            </a:pPr>
            <a:endParaRPr lang="es-419" dirty="0"/>
          </a:p>
          <a:p>
            <a:pPr marL="0" indent="0">
              <a:buNone/>
            </a:pPr>
            <a:endParaRPr lang="en-US" dirty="0"/>
          </a:p>
        </p:txBody>
      </p:sp>
      <p:pic>
        <p:nvPicPr>
          <p:cNvPr id="4" name="Picture 3">
            <a:extLst>
              <a:ext uri="{FF2B5EF4-FFF2-40B4-BE49-F238E27FC236}">
                <a16:creationId xmlns:a16="http://schemas.microsoft.com/office/drawing/2014/main" id="{E49D615E-E45F-4639-BF43-9EDB6A20F30D}"/>
              </a:ext>
            </a:extLst>
          </p:cNvPr>
          <p:cNvPicPr>
            <a:picLocks noChangeAspect="1"/>
          </p:cNvPicPr>
          <p:nvPr/>
        </p:nvPicPr>
        <p:blipFill>
          <a:blip r:embed="rId3"/>
          <a:stretch>
            <a:fillRect/>
          </a:stretch>
        </p:blipFill>
        <p:spPr>
          <a:xfrm>
            <a:off x="2454421" y="2467769"/>
            <a:ext cx="6353175" cy="1533525"/>
          </a:xfrm>
          <a:prstGeom prst="rect">
            <a:avLst/>
          </a:prstGeom>
        </p:spPr>
      </p:pic>
    </p:spTree>
    <p:extLst>
      <p:ext uri="{BB962C8B-B14F-4D97-AF65-F5344CB8AC3E}">
        <p14:creationId xmlns:p14="http://schemas.microsoft.com/office/powerpoint/2010/main" val="24441564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BB9A6-2A47-46F2-949A-A8B08F73ED07}"/>
              </a:ext>
            </a:extLst>
          </p:cNvPr>
          <p:cNvSpPr>
            <a:spLocks noGrp="1"/>
          </p:cNvSpPr>
          <p:nvPr>
            <p:ph type="title"/>
          </p:nvPr>
        </p:nvSpPr>
        <p:spPr/>
        <p:txBody>
          <a:bodyPr/>
          <a:lstStyle/>
          <a:p>
            <a:r>
              <a:rPr lang="es-419" dirty="0" err="1"/>
              <a:t>Image</a:t>
            </a:r>
            <a:r>
              <a:rPr lang="es-419" dirty="0"/>
              <a:t> </a:t>
            </a:r>
            <a:r>
              <a:rPr lang="es-419" dirty="0" err="1"/>
              <a:t>Streams</a:t>
            </a:r>
            <a:endParaRPr lang="en-US" dirty="0"/>
          </a:p>
        </p:txBody>
      </p:sp>
      <p:sp>
        <p:nvSpPr>
          <p:cNvPr id="3" name="Content Placeholder 2">
            <a:extLst>
              <a:ext uri="{FF2B5EF4-FFF2-40B4-BE49-F238E27FC236}">
                <a16:creationId xmlns:a16="http://schemas.microsoft.com/office/drawing/2014/main" id="{762C75AF-D275-4687-B209-AFE779B802F6}"/>
              </a:ext>
            </a:extLst>
          </p:cNvPr>
          <p:cNvSpPr>
            <a:spLocks noGrp="1"/>
          </p:cNvSpPr>
          <p:nvPr>
            <p:ph idx="1"/>
          </p:nvPr>
        </p:nvSpPr>
        <p:spPr/>
        <p:txBody>
          <a:bodyPr>
            <a:normAutofit lnSpcReduction="10000"/>
          </a:bodyPr>
          <a:lstStyle/>
          <a:p>
            <a:pPr marL="0" indent="0">
              <a:buNone/>
            </a:pPr>
            <a:r>
              <a:rPr lang="es-ES" dirty="0"/>
              <a:t>Un </a:t>
            </a:r>
            <a:r>
              <a:rPr lang="es-ES" dirty="0" err="1"/>
              <a:t>Image</a:t>
            </a:r>
            <a:r>
              <a:rPr lang="es-ES" dirty="0"/>
              <a:t> </a:t>
            </a:r>
            <a:r>
              <a:rPr lang="es-ES" dirty="0" err="1"/>
              <a:t>Stream</a:t>
            </a:r>
            <a:r>
              <a:rPr lang="es-ES" dirty="0"/>
              <a:t> contiene toda la </a:t>
            </a:r>
            <a:r>
              <a:rPr lang="es-ES" dirty="0" err="1"/>
              <a:t>metadata</a:t>
            </a:r>
            <a:r>
              <a:rPr lang="es-ES" dirty="0"/>
              <a:t> de cualquier imagen especificada en un </a:t>
            </a:r>
            <a:r>
              <a:rPr lang="es-ES" dirty="0" err="1"/>
              <a:t>Image</a:t>
            </a:r>
            <a:r>
              <a:rPr lang="es-ES" dirty="0"/>
              <a:t> </a:t>
            </a:r>
            <a:r>
              <a:rPr lang="es-ES" dirty="0" err="1"/>
              <a:t>Stream</a:t>
            </a:r>
            <a:r>
              <a:rPr lang="es-ES" dirty="0"/>
              <a:t> </a:t>
            </a:r>
            <a:r>
              <a:rPr lang="es-ES" dirty="0" err="1"/>
              <a:t>specification</a:t>
            </a:r>
            <a:r>
              <a:rPr lang="es-ES" dirty="0"/>
              <a:t>. Es importante saber que el </a:t>
            </a:r>
            <a:r>
              <a:rPr lang="es-ES" dirty="0" err="1"/>
              <a:t>Image</a:t>
            </a:r>
            <a:r>
              <a:rPr lang="es-ES" dirty="0"/>
              <a:t> </a:t>
            </a:r>
            <a:r>
              <a:rPr lang="es-ES" dirty="0" err="1"/>
              <a:t>Stream</a:t>
            </a:r>
            <a:r>
              <a:rPr lang="es-ES" dirty="0"/>
              <a:t> no contiene la imagen, solo referencias a esta.</a:t>
            </a:r>
          </a:p>
          <a:p>
            <a:pPr marL="0" indent="0">
              <a:buNone/>
            </a:pPr>
            <a:endParaRPr lang="es-ES" dirty="0"/>
          </a:p>
          <a:p>
            <a:pPr marL="0" indent="0">
              <a:buNone/>
            </a:pPr>
            <a:r>
              <a:rPr lang="es-ES" dirty="0"/>
              <a:t>Los </a:t>
            </a:r>
            <a:r>
              <a:rPr lang="es-ES" dirty="0" err="1"/>
              <a:t>Images</a:t>
            </a:r>
            <a:r>
              <a:rPr lang="es-ES" dirty="0"/>
              <a:t> </a:t>
            </a:r>
            <a:r>
              <a:rPr lang="es-ES" dirty="0" err="1"/>
              <a:t>Streams</a:t>
            </a:r>
            <a:r>
              <a:rPr lang="es-ES" dirty="0"/>
              <a:t> pueden ser usados para automáticamente ejecutar una tarea cuando una nueva imagen es creada. </a:t>
            </a:r>
          </a:p>
          <a:p>
            <a:pPr marL="0" indent="0">
              <a:buNone/>
            </a:pPr>
            <a:endParaRPr lang="es-ES" dirty="0"/>
          </a:p>
          <a:p>
            <a:pPr marL="0" indent="0">
              <a:buNone/>
            </a:pPr>
            <a:r>
              <a:rPr lang="es-ES" dirty="0"/>
              <a:t>Por ejemplo si un </a:t>
            </a:r>
            <a:r>
              <a:rPr lang="es-ES" dirty="0" err="1"/>
              <a:t>deployment</a:t>
            </a:r>
            <a:r>
              <a:rPr lang="es-ES" dirty="0"/>
              <a:t> es creado por cierta imagen y una nueva versión de esta imagen es creada, el </a:t>
            </a:r>
            <a:r>
              <a:rPr lang="es-ES" dirty="0" err="1"/>
              <a:t>deployment</a:t>
            </a:r>
            <a:r>
              <a:rPr lang="es-ES" dirty="0"/>
              <a:t> puede ejecutarse automáticamente.</a:t>
            </a:r>
            <a:endParaRPr lang="en-US" dirty="0"/>
          </a:p>
        </p:txBody>
      </p:sp>
    </p:spTree>
    <p:extLst>
      <p:ext uri="{BB962C8B-B14F-4D97-AF65-F5344CB8AC3E}">
        <p14:creationId xmlns:p14="http://schemas.microsoft.com/office/powerpoint/2010/main" val="250014363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FC618-8D03-46FD-B677-6D4615848911}"/>
              </a:ext>
            </a:extLst>
          </p:cNvPr>
          <p:cNvSpPr>
            <a:spLocks noGrp="1"/>
          </p:cNvSpPr>
          <p:nvPr>
            <p:ph type="title"/>
          </p:nvPr>
        </p:nvSpPr>
        <p:spPr/>
        <p:txBody>
          <a:bodyPr/>
          <a:lstStyle/>
          <a:p>
            <a:r>
              <a:rPr lang="es-419" dirty="0"/>
              <a:t>El proceso </a:t>
            </a:r>
            <a:r>
              <a:rPr lang="es-419" dirty="0" err="1"/>
              <a:t>Souce-to-Image</a:t>
            </a:r>
            <a:r>
              <a:rPr lang="es-419" dirty="0"/>
              <a:t>(S2I)</a:t>
            </a:r>
            <a:endParaRPr lang="en-US" dirty="0"/>
          </a:p>
        </p:txBody>
      </p:sp>
      <p:pic>
        <p:nvPicPr>
          <p:cNvPr id="4" name="Picture 3">
            <a:extLst>
              <a:ext uri="{FF2B5EF4-FFF2-40B4-BE49-F238E27FC236}">
                <a16:creationId xmlns:a16="http://schemas.microsoft.com/office/drawing/2014/main" id="{6194E571-8A4E-47A3-A7F5-5950409E3FE0}"/>
              </a:ext>
            </a:extLst>
          </p:cNvPr>
          <p:cNvPicPr>
            <a:picLocks noChangeAspect="1"/>
          </p:cNvPicPr>
          <p:nvPr/>
        </p:nvPicPr>
        <p:blipFill>
          <a:blip r:embed="rId3"/>
          <a:stretch>
            <a:fillRect/>
          </a:stretch>
        </p:blipFill>
        <p:spPr>
          <a:xfrm>
            <a:off x="3148850" y="1690688"/>
            <a:ext cx="5894299" cy="4218903"/>
          </a:xfrm>
          <a:prstGeom prst="rect">
            <a:avLst/>
          </a:prstGeom>
        </p:spPr>
      </p:pic>
    </p:spTree>
    <p:extLst>
      <p:ext uri="{BB962C8B-B14F-4D97-AF65-F5344CB8AC3E}">
        <p14:creationId xmlns:p14="http://schemas.microsoft.com/office/powerpoint/2010/main" val="11201419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645A6-C869-4F7C-A3A9-F18E4E22A951}"/>
              </a:ext>
            </a:extLst>
          </p:cNvPr>
          <p:cNvSpPr>
            <a:spLocks noGrp="1"/>
          </p:cNvSpPr>
          <p:nvPr>
            <p:ph type="title"/>
          </p:nvPr>
        </p:nvSpPr>
        <p:spPr/>
        <p:txBody>
          <a:bodyPr/>
          <a:lstStyle/>
          <a:p>
            <a:r>
              <a:rPr lang="es-419" dirty="0"/>
              <a:t>Demo</a:t>
            </a:r>
            <a:endParaRPr lang="en-US" dirty="0"/>
          </a:p>
        </p:txBody>
      </p:sp>
      <p:sp>
        <p:nvSpPr>
          <p:cNvPr id="3" name="Content Placeholder 2">
            <a:extLst>
              <a:ext uri="{FF2B5EF4-FFF2-40B4-BE49-F238E27FC236}">
                <a16:creationId xmlns:a16="http://schemas.microsoft.com/office/drawing/2014/main" id="{7DD7D37C-DBE5-46A6-9FC0-6FDCC82B88DE}"/>
              </a:ext>
            </a:extLst>
          </p:cNvPr>
          <p:cNvSpPr>
            <a:spLocks noGrp="1"/>
          </p:cNvSpPr>
          <p:nvPr>
            <p:ph idx="1"/>
          </p:nvPr>
        </p:nvSpPr>
        <p:spPr/>
        <p:txBody>
          <a:bodyPr/>
          <a:lstStyle/>
          <a:p>
            <a:r>
              <a:rPr lang="es-419" dirty="0"/>
              <a:t>Listar los </a:t>
            </a:r>
            <a:r>
              <a:rPr lang="es-419" dirty="0" err="1"/>
              <a:t>Image</a:t>
            </a:r>
            <a:r>
              <a:rPr lang="es-419" dirty="0"/>
              <a:t> </a:t>
            </a:r>
            <a:r>
              <a:rPr lang="es-419" dirty="0" err="1"/>
              <a:t>Streams</a:t>
            </a:r>
            <a:r>
              <a:rPr lang="es-419" dirty="0"/>
              <a:t> por defecto</a:t>
            </a:r>
          </a:p>
          <a:p>
            <a:endParaRPr lang="es-419" dirty="0"/>
          </a:p>
          <a:p>
            <a:pPr marL="0" indent="0">
              <a:buNone/>
            </a:pPr>
            <a:r>
              <a:rPr lang="es-419" dirty="0"/>
              <a:t>$</a:t>
            </a:r>
            <a:r>
              <a:rPr lang="es-419" dirty="0" err="1"/>
              <a:t>oc</a:t>
            </a:r>
            <a:r>
              <a:rPr lang="es-419" dirty="0"/>
              <a:t> </a:t>
            </a:r>
            <a:r>
              <a:rPr lang="es-419" dirty="0" err="1"/>
              <a:t>get</a:t>
            </a:r>
            <a:r>
              <a:rPr lang="es-419" dirty="0"/>
              <a:t> </a:t>
            </a:r>
            <a:r>
              <a:rPr lang="es-419" dirty="0" err="1"/>
              <a:t>is</a:t>
            </a:r>
            <a:r>
              <a:rPr lang="es-419" dirty="0"/>
              <a:t> –n </a:t>
            </a:r>
            <a:r>
              <a:rPr lang="es-419" dirty="0" err="1"/>
              <a:t>openshift</a:t>
            </a:r>
            <a:endParaRPr lang="es-419" dirty="0"/>
          </a:p>
          <a:p>
            <a:pPr marL="0" indent="0">
              <a:buNone/>
            </a:pPr>
            <a:endParaRPr lang="es-419" dirty="0"/>
          </a:p>
          <a:p>
            <a:pPr marL="0" indent="0">
              <a:buNone/>
            </a:pPr>
            <a:r>
              <a:rPr lang="es-419" dirty="0"/>
              <a:t>Describir un </a:t>
            </a:r>
            <a:r>
              <a:rPr lang="es-419" dirty="0" err="1"/>
              <a:t>Image</a:t>
            </a:r>
            <a:r>
              <a:rPr lang="es-419" dirty="0"/>
              <a:t> </a:t>
            </a:r>
            <a:r>
              <a:rPr lang="es-419" dirty="0" err="1"/>
              <a:t>Stream</a:t>
            </a:r>
            <a:endParaRPr lang="es-419" dirty="0"/>
          </a:p>
          <a:p>
            <a:pPr marL="0" indent="0">
              <a:buNone/>
            </a:pPr>
            <a:endParaRPr lang="es-419" dirty="0"/>
          </a:p>
          <a:p>
            <a:pPr marL="0" indent="0">
              <a:buNone/>
            </a:pPr>
            <a:r>
              <a:rPr lang="es-419" dirty="0"/>
              <a:t>$</a:t>
            </a:r>
            <a:r>
              <a:rPr lang="es-419" dirty="0" err="1"/>
              <a:t>oc</a:t>
            </a:r>
            <a:r>
              <a:rPr lang="es-419" dirty="0"/>
              <a:t> describe </a:t>
            </a:r>
            <a:r>
              <a:rPr lang="es-419" dirty="0" err="1"/>
              <a:t>is</a:t>
            </a:r>
            <a:r>
              <a:rPr lang="es-419" dirty="0"/>
              <a:t> Jenkins –n </a:t>
            </a:r>
            <a:r>
              <a:rPr lang="es-419" dirty="0" err="1"/>
              <a:t>openshift</a:t>
            </a:r>
            <a:endParaRPr lang="en-US" dirty="0"/>
          </a:p>
        </p:txBody>
      </p:sp>
    </p:spTree>
    <p:extLst>
      <p:ext uri="{BB962C8B-B14F-4D97-AF65-F5344CB8AC3E}">
        <p14:creationId xmlns:p14="http://schemas.microsoft.com/office/powerpoint/2010/main" val="201607364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C30F2-A0FD-4F8F-B219-C2129D5FCD8E}"/>
              </a:ext>
            </a:extLst>
          </p:cNvPr>
          <p:cNvSpPr>
            <a:spLocks noGrp="1"/>
          </p:cNvSpPr>
          <p:nvPr>
            <p:ph type="title"/>
          </p:nvPr>
        </p:nvSpPr>
        <p:spPr/>
        <p:txBody>
          <a:bodyPr/>
          <a:lstStyle/>
          <a:p>
            <a:r>
              <a:rPr lang="es-419" dirty="0"/>
              <a:t>Ejercicio</a:t>
            </a:r>
            <a:endParaRPr lang="en-US" dirty="0"/>
          </a:p>
        </p:txBody>
      </p:sp>
      <p:sp>
        <p:nvSpPr>
          <p:cNvPr id="3" name="Content Placeholder 2">
            <a:extLst>
              <a:ext uri="{FF2B5EF4-FFF2-40B4-BE49-F238E27FC236}">
                <a16:creationId xmlns:a16="http://schemas.microsoft.com/office/drawing/2014/main" id="{7D29190B-8009-4DD7-B38C-3B6ED53418AA}"/>
              </a:ext>
            </a:extLst>
          </p:cNvPr>
          <p:cNvSpPr>
            <a:spLocks noGrp="1"/>
          </p:cNvSpPr>
          <p:nvPr>
            <p:ph idx="1"/>
          </p:nvPr>
        </p:nvSpPr>
        <p:spPr/>
        <p:txBody>
          <a:bodyPr/>
          <a:lstStyle/>
          <a:p>
            <a:r>
              <a:rPr lang="es-419" dirty="0"/>
              <a:t>Desplegar la aplicación “temperatura </a:t>
            </a:r>
            <a:r>
              <a:rPr lang="es-419" dirty="0" err="1"/>
              <a:t>converter</a:t>
            </a:r>
            <a:r>
              <a:rPr lang="es-419" dirty="0"/>
              <a:t>” en </a:t>
            </a:r>
            <a:r>
              <a:rPr lang="es-419" dirty="0" err="1"/>
              <a:t>php</a:t>
            </a:r>
            <a:r>
              <a:rPr lang="es-419" dirty="0"/>
              <a:t> usando el </a:t>
            </a:r>
            <a:r>
              <a:rPr lang="es-419" dirty="0" err="1"/>
              <a:t>image</a:t>
            </a:r>
            <a:r>
              <a:rPr lang="es-419" dirty="0"/>
              <a:t> </a:t>
            </a:r>
            <a:r>
              <a:rPr lang="es-419" dirty="0" err="1"/>
              <a:t>stream</a:t>
            </a:r>
            <a:r>
              <a:rPr lang="es-419" dirty="0"/>
              <a:t> php:7.1</a:t>
            </a:r>
          </a:p>
          <a:p>
            <a:endParaRPr lang="es-419" dirty="0"/>
          </a:p>
          <a:p>
            <a:pPr marL="0" indent="0">
              <a:buNone/>
            </a:pPr>
            <a:r>
              <a:rPr lang="es-419" dirty="0"/>
              <a:t>$</a:t>
            </a:r>
            <a:r>
              <a:rPr lang="fr-FR" dirty="0"/>
              <a:t>oc new-app php:7.1~https://github.com/</a:t>
            </a:r>
            <a:r>
              <a:rPr lang="fr-FR" dirty="0" err="1"/>
              <a:t>RedHatTraining</a:t>
            </a:r>
            <a:r>
              <a:rPr lang="fr-FR" dirty="0"/>
              <a:t>/DO180-apps --</a:t>
            </a:r>
            <a:r>
              <a:rPr lang="fr-FR" dirty="0" err="1"/>
              <a:t>context-dir</a:t>
            </a:r>
            <a:r>
              <a:rPr lang="fr-FR" dirty="0"/>
              <a:t> temps --</a:t>
            </a:r>
            <a:r>
              <a:rPr lang="fr-FR" dirty="0" err="1"/>
              <a:t>name</a:t>
            </a:r>
            <a:r>
              <a:rPr lang="fr-FR" dirty="0"/>
              <a:t> temps</a:t>
            </a:r>
          </a:p>
          <a:p>
            <a:pPr marL="0" indent="0">
              <a:buNone/>
            </a:pPr>
            <a:endParaRPr lang="fr-FR" dirty="0"/>
          </a:p>
          <a:p>
            <a:pPr marL="0" indent="0">
              <a:buNone/>
            </a:pPr>
            <a:r>
              <a:rPr lang="fr-FR" dirty="0" err="1"/>
              <a:t>Monitorear</a:t>
            </a:r>
            <a:r>
              <a:rPr lang="fr-FR" dirty="0"/>
              <a:t> la </a:t>
            </a:r>
            <a:r>
              <a:rPr lang="fr-FR" dirty="0" err="1"/>
              <a:t>creación</a:t>
            </a:r>
            <a:r>
              <a:rPr lang="fr-FR" dirty="0"/>
              <a:t> de la </a:t>
            </a:r>
            <a:r>
              <a:rPr lang="fr-FR" dirty="0" err="1"/>
              <a:t>aplicación</a:t>
            </a:r>
            <a:endParaRPr lang="fr-FR" dirty="0"/>
          </a:p>
          <a:p>
            <a:pPr marL="0" indent="0">
              <a:buNone/>
            </a:pPr>
            <a:endParaRPr lang="fr-FR" dirty="0"/>
          </a:p>
          <a:p>
            <a:pPr marL="0" indent="0">
              <a:buNone/>
            </a:pPr>
            <a:r>
              <a:rPr lang="fr-FR" dirty="0"/>
              <a:t>$oc logs -f </a:t>
            </a:r>
            <a:r>
              <a:rPr lang="fr-FR" dirty="0" err="1"/>
              <a:t>bc</a:t>
            </a:r>
            <a:r>
              <a:rPr lang="fr-FR" dirty="0"/>
              <a:t>/temps</a:t>
            </a:r>
            <a:endParaRPr lang="en-US" dirty="0"/>
          </a:p>
        </p:txBody>
      </p:sp>
    </p:spTree>
    <p:extLst>
      <p:ext uri="{BB962C8B-B14F-4D97-AF65-F5344CB8AC3E}">
        <p14:creationId xmlns:p14="http://schemas.microsoft.com/office/powerpoint/2010/main" val="14609146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60BF2-65DD-4F01-A71D-E5E0ADD4A092}"/>
              </a:ext>
            </a:extLst>
          </p:cNvPr>
          <p:cNvSpPr>
            <a:spLocks noGrp="1"/>
          </p:cNvSpPr>
          <p:nvPr>
            <p:ph type="title"/>
          </p:nvPr>
        </p:nvSpPr>
        <p:spPr/>
        <p:txBody>
          <a:bodyPr/>
          <a:lstStyle/>
          <a:p>
            <a:r>
              <a:rPr lang="es-419" dirty="0"/>
              <a:t>Ejercicio (continuación)</a:t>
            </a:r>
            <a:endParaRPr lang="en-US" dirty="0"/>
          </a:p>
        </p:txBody>
      </p:sp>
      <p:sp>
        <p:nvSpPr>
          <p:cNvPr id="3" name="Content Placeholder 2">
            <a:extLst>
              <a:ext uri="{FF2B5EF4-FFF2-40B4-BE49-F238E27FC236}">
                <a16:creationId xmlns:a16="http://schemas.microsoft.com/office/drawing/2014/main" id="{1320CBF6-2CC9-48FF-BDC9-EE1320C52681}"/>
              </a:ext>
            </a:extLst>
          </p:cNvPr>
          <p:cNvSpPr>
            <a:spLocks noGrp="1"/>
          </p:cNvSpPr>
          <p:nvPr>
            <p:ph idx="1"/>
          </p:nvPr>
        </p:nvSpPr>
        <p:spPr/>
        <p:txBody>
          <a:bodyPr/>
          <a:lstStyle/>
          <a:p>
            <a:r>
              <a:rPr lang="es-419" dirty="0"/>
              <a:t>Exponer el servicio creado y probar la aplicación</a:t>
            </a:r>
            <a:endParaRPr lang="en-US" dirty="0"/>
          </a:p>
        </p:txBody>
      </p:sp>
    </p:spTree>
    <p:extLst>
      <p:ext uri="{BB962C8B-B14F-4D97-AF65-F5344CB8AC3E}">
        <p14:creationId xmlns:p14="http://schemas.microsoft.com/office/powerpoint/2010/main" val="28674974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85C31-A8DD-4D70-B4A6-09684C350015}"/>
              </a:ext>
            </a:extLst>
          </p:cNvPr>
          <p:cNvSpPr>
            <a:spLocks noGrp="1"/>
          </p:cNvSpPr>
          <p:nvPr>
            <p:ph type="title"/>
          </p:nvPr>
        </p:nvSpPr>
        <p:spPr/>
        <p:txBody>
          <a:bodyPr/>
          <a:lstStyle/>
          <a:p>
            <a:r>
              <a:rPr lang="es-419" dirty="0"/>
              <a:t>Práctica</a:t>
            </a:r>
            <a:endParaRPr lang="en-US" dirty="0"/>
          </a:p>
        </p:txBody>
      </p:sp>
      <p:sp>
        <p:nvSpPr>
          <p:cNvPr id="3" name="Content Placeholder 2">
            <a:extLst>
              <a:ext uri="{FF2B5EF4-FFF2-40B4-BE49-F238E27FC236}">
                <a16:creationId xmlns:a16="http://schemas.microsoft.com/office/drawing/2014/main" id="{3130C08B-4D4D-4E09-A723-076BC57DD53A}"/>
              </a:ext>
            </a:extLst>
          </p:cNvPr>
          <p:cNvSpPr>
            <a:spLocks noGrp="1"/>
          </p:cNvSpPr>
          <p:nvPr>
            <p:ph idx="1"/>
          </p:nvPr>
        </p:nvSpPr>
        <p:spPr/>
        <p:txBody>
          <a:bodyPr/>
          <a:lstStyle/>
          <a:p>
            <a:r>
              <a:rPr lang="es-419" dirty="0"/>
              <a:t>Despliegue de </a:t>
            </a:r>
            <a:r>
              <a:rPr lang="es-419" dirty="0" err="1"/>
              <a:t>template</a:t>
            </a:r>
            <a:r>
              <a:rPr lang="es-419" dirty="0"/>
              <a:t> desde consola</a:t>
            </a:r>
          </a:p>
          <a:p>
            <a:r>
              <a:rPr lang="es-419" dirty="0"/>
              <a:t>Crear proyecto nuevo</a:t>
            </a:r>
          </a:p>
          <a:p>
            <a:r>
              <a:rPr lang="es-419" dirty="0" err="1"/>
              <a:t>Deplegar</a:t>
            </a:r>
            <a:r>
              <a:rPr lang="es-419" dirty="0"/>
              <a:t> </a:t>
            </a:r>
            <a:r>
              <a:rPr lang="es-419" dirty="0" err="1"/>
              <a:t>template</a:t>
            </a:r>
            <a:r>
              <a:rPr lang="es-419" dirty="0"/>
              <a:t> de </a:t>
            </a:r>
            <a:r>
              <a:rPr lang="es-419" dirty="0" err="1"/>
              <a:t>cakephp</a:t>
            </a:r>
            <a:endParaRPr lang="en-US" dirty="0"/>
          </a:p>
        </p:txBody>
      </p:sp>
    </p:spTree>
    <p:extLst>
      <p:ext uri="{BB962C8B-B14F-4D97-AF65-F5344CB8AC3E}">
        <p14:creationId xmlns:p14="http://schemas.microsoft.com/office/powerpoint/2010/main" val="315061534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A46D31-9507-4037-B401-F55F95BC8FF7}"/>
              </a:ext>
            </a:extLst>
          </p:cNvPr>
          <p:cNvSpPr>
            <a:spLocks noGrp="1"/>
          </p:cNvSpPr>
          <p:nvPr>
            <p:ph type="title"/>
          </p:nvPr>
        </p:nvSpPr>
        <p:spPr/>
        <p:txBody>
          <a:bodyPr/>
          <a:lstStyle/>
          <a:p>
            <a:r>
              <a:rPr lang="es-419" dirty="0"/>
              <a:t>Ejercicio</a:t>
            </a:r>
            <a:endParaRPr lang="en-US" dirty="0"/>
          </a:p>
        </p:txBody>
      </p:sp>
      <p:sp>
        <p:nvSpPr>
          <p:cNvPr id="3" name="Content Placeholder 2">
            <a:extLst>
              <a:ext uri="{FF2B5EF4-FFF2-40B4-BE49-F238E27FC236}">
                <a16:creationId xmlns:a16="http://schemas.microsoft.com/office/drawing/2014/main" id="{270C19BA-5E94-4DE0-91D9-371C6C9BA862}"/>
              </a:ext>
            </a:extLst>
          </p:cNvPr>
          <p:cNvSpPr>
            <a:spLocks noGrp="1"/>
          </p:cNvSpPr>
          <p:nvPr>
            <p:ph idx="1"/>
          </p:nvPr>
        </p:nvSpPr>
        <p:spPr/>
        <p:txBody>
          <a:bodyPr/>
          <a:lstStyle/>
          <a:p>
            <a:r>
              <a:rPr lang="es-419" dirty="0"/>
              <a:t>Ingresar como </a:t>
            </a:r>
            <a:r>
              <a:rPr lang="es-419" dirty="0" err="1"/>
              <a:t>admin</a:t>
            </a:r>
            <a:endParaRPr lang="es-419" dirty="0"/>
          </a:p>
          <a:p>
            <a:endParaRPr lang="es-419" dirty="0"/>
          </a:p>
          <a:p>
            <a:r>
              <a:rPr lang="es-419" dirty="0"/>
              <a:t>Importar nuevo </a:t>
            </a:r>
            <a:r>
              <a:rPr lang="es-419" dirty="0" err="1"/>
              <a:t>template</a:t>
            </a:r>
            <a:endParaRPr lang="es-419" dirty="0"/>
          </a:p>
          <a:p>
            <a:endParaRPr lang="es-419" dirty="0"/>
          </a:p>
          <a:p>
            <a:pPr marL="0" indent="0">
              <a:buNone/>
            </a:pPr>
            <a:r>
              <a:rPr lang="en-US" dirty="0"/>
              <a:t>$</a:t>
            </a:r>
            <a:r>
              <a:rPr lang="en-US" dirty="0" err="1"/>
              <a:t>oc</a:t>
            </a:r>
            <a:r>
              <a:rPr lang="en-US" dirty="0"/>
              <a:t> create -f https://raw.githubusercontent.com/openshift-cs/ghost-example/master/ghost_template.yaml -n </a:t>
            </a:r>
            <a:r>
              <a:rPr lang="en-US" dirty="0" err="1"/>
              <a:t>openshift</a:t>
            </a:r>
            <a:endParaRPr lang="en-US" dirty="0"/>
          </a:p>
        </p:txBody>
      </p:sp>
    </p:spTree>
    <p:extLst>
      <p:ext uri="{BB962C8B-B14F-4D97-AF65-F5344CB8AC3E}">
        <p14:creationId xmlns:p14="http://schemas.microsoft.com/office/powerpoint/2010/main" val="126254913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19FBD-A6DD-4A34-9972-19662920B010}"/>
              </a:ext>
            </a:extLst>
          </p:cNvPr>
          <p:cNvSpPr>
            <a:spLocks noGrp="1"/>
          </p:cNvSpPr>
          <p:nvPr>
            <p:ph type="title"/>
          </p:nvPr>
        </p:nvSpPr>
        <p:spPr/>
        <p:txBody>
          <a:bodyPr/>
          <a:lstStyle/>
          <a:p>
            <a:r>
              <a:rPr lang="es-419" dirty="0"/>
              <a:t>Ejercicio (continuación)</a:t>
            </a:r>
            <a:endParaRPr lang="en-US" dirty="0"/>
          </a:p>
        </p:txBody>
      </p:sp>
      <p:sp>
        <p:nvSpPr>
          <p:cNvPr id="3" name="Content Placeholder 2">
            <a:extLst>
              <a:ext uri="{FF2B5EF4-FFF2-40B4-BE49-F238E27FC236}">
                <a16:creationId xmlns:a16="http://schemas.microsoft.com/office/drawing/2014/main" id="{6D8233C7-B626-4A2A-BFD9-C14B36A8A665}"/>
              </a:ext>
            </a:extLst>
          </p:cNvPr>
          <p:cNvSpPr>
            <a:spLocks noGrp="1"/>
          </p:cNvSpPr>
          <p:nvPr>
            <p:ph idx="1"/>
          </p:nvPr>
        </p:nvSpPr>
        <p:spPr/>
        <p:txBody>
          <a:bodyPr/>
          <a:lstStyle/>
          <a:p>
            <a:r>
              <a:rPr lang="es-419" dirty="0"/>
              <a:t>Buscar en el catalogo “</a:t>
            </a:r>
            <a:r>
              <a:rPr lang="es-419" dirty="0" err="1"/>
              <a:t>ghost</a:t>
            </a:r>
            <a:r>
              <a:rPr lang="es-419" dirty="0"/>
              <a:t>”</a:t>
            </a:r>
          </a:p>
          <a:p>
            <a:endParaRPr lang="es-419" dirty="0"/>
          </a:p>
          <a:p>
            <a:r>
              <a:rPr lang="es-419" dirty="0"/>
              <a:t>Desplegar desde </a:t>
            </a:r>
            <a:r>
              <a:rPr lang="es-419" dirty="0" err="1"/>
              <a:t>template</a:t>
            </a:r>
            <a:r>
              <a:rPr lang="es-419" dirty="0"/>
              <a:t> con valores por defecto</a:t>
            </a:r>
            <a:endParaRPr lang="en-US" dirty="0"/>
          </a:p>
        </p:txBody>
      </p:sp>
    </p:spTree>
    <p:extLst>
      <p:ext uri="{BB962C8B-B14F-4D97-AF65-F5344CB8AC3E}">
        <p14:creationId xmlns:p14="http://schemas.microsoft.com/office/powerpoint/2010/main" val="283567624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139D5-ACD5-4024-B031-3E940515D27C}"/>
              </a:ext>
            </a:extLst>
          </p:cNvPr>
          <p:cNvSpPr>
            <a:spLocks noGrp="1"/>
          </p:cNvSpPr>
          <p:nvPr>
            <p:ph type="title"/>
          </p:nvPr>
        </p:nvSpPr>
        <p:spPr/>
        <p:txBody>
          <a:bodyPr/>
          <a:lstStyle/>
          <a:p>
            <a:r>
              <a:rPr lang="es-419" dirty="0"/>
              <a:t>Blue/Green </a:t>
            </a:r>
            <a:r>
              <a:rPr lang="es-419" dirty="0" err="1"/>
              <a:t>Deployments</a:t>
            </a:r>
            <a:endParaRPr lang="en-US" dirty="0"/>
          </a:p>
        </p:txBody>
      </p:sp>
      <p:pic>
        <p:nvPicPr>
          <p:cNvPr id="4" name="Picture 3">
            <a:extLst>
              <a:ext uri="{FF2B5EF4-FFF2-40B4-BE49-F238E27FC236}">
                <a16:creationId xmlns:a16="http://schemas.microsoft.com/office/drawing/2014/main" id="{A5F7986C-8905-4821-95DB-15530156AAD2}"/>
              </a:ext>
            </a:extLst>
          </p:cNvPr>
          <p:cNvPicPr>
            <a:picLocks noChangeAspect="1"/>
          </p:cNvPicPr>
          <p:nvPr/>
        </p:nvPicPr>
        <p:blipFill>
          <a:blip r:embed="rId3"/>
          <a:stretch>
            <a:fillRect/>
          </a:stretch>
        </p:blipFill>
        <p:spPr>
          <a:xfrm>
            <a:off x="2851047" y="1690688"/>
            <a:ext cx="6076950" cy="3838575"/>
          </a:xfrm>
          <a:prstGeom prst="rect">
            <a:avLst/>
          </a:prstGeom>
        </p:spPr>
      </p:pic>
    </p:spTree>
    <p:extLst>
      <p:ext uri="{BB962C8B-B14F-4D97-AF65-F5344CB8AC3E}">
        <p14:creationId xmlns:p14="http://schemas.microsoft.com/office/powerpoint/2010/main" val="391994720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433867-D16F-492E-A7EE-3076BC8D0B1D}"/>
              </a:ext>
            </a:extLst>
          </p:cNvPr>
          <p:cNvSpPr>
            <a:spLocks noGrp="1"/>
          </p:cNvSpPr>
          <p:nvPr>
            <p:ph type="title"/>
          </p:nvPr>
        </p:nvSpPr>
        <p:spPr/>
        <p:txBody>
          <a:bodyPr/>
          <a:lstStyle/>
          <a:p>
            <a:r>
              <a:rPr lang="es-419" dirty="0"/>
              <a:t>Ejercicios</a:t>
            </a:r>
            <a:endParaRPr lang="en-US" dirty="0"/>
          </a:p>
        </p:txBody>
      </p:sp>
      <p:sp>
        <p:nvSpPr>
          <p:cNvPr id="3" name="Content Placeholder 2">
            <a:extLst>
              <a:ext uri="{FF2B5EF4-FFF2-40B4-BE49-F238E27FC236}">
                <a16:creationId xmlns:a16="http://schemas.microsoft.com/office/drawing/2014/main" id="{45B7A377-CDE7-48CF-8DF6-1D4C62A3E395}"/>
              </a:ext>
            </a:extLst>
          </p:cNvPr>
          <p:cNvSpPr>
            <a:spLocks noGrp="1"/>
          </p:cNvSpPr>
          <p:nvPr>
            <p:ph idx="1"/>
          </p:nvPr>
        </p:nvSpPr>
        <p:spPr/>
        <p:txBody>
          <a:bodyPr/>
          <a:lstStyle/>
          <a:p>
            <a:r>
              <a:rPr lang="es-419" dirty="0"/>
              <a:t>Blue/Green </a:t>
            </a:r>
            <a:r>
              <a:rPr lang="es-419" dirty="0" err="1"/>
              <a:t>Deployment</a:t>
            </a:r>
            <a:r>
              <a:rPr lang="es-419" dirty="0"/>
              <a:t> </a:t>
            </a:r>
            <a:r>
              <a:rPr lang="es-419" dirty="0" err="1"/>
              <a:t>Lab</a:t>
            </a:r>
            <a:endParaRPr lang="en-US" dirty="0"/>
          </a:p>
        </p:txBody>
      </p:sp>
    </p:spTree>
    <p:extLst>
      <p:ext uri="{BB962C8B-B14F-4D97-AF65-F5344CB8AC3E}">
        <p14:creationId xmlns:p14="http://schemas.microsoft.com/office/powerpoint/2010/main" val="46806187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2E484-6F14-4B24-9ACD-A561B332E641}"/>
              </a:ext>
            </a:extLst>
          </p:cNvPr>
          <p:cNvSpPr>
            <a:spLocks noGrp="1"/>
          </p:cNvSpPr>
          <p:nvPr>
            <p:ph type="title"/>
          </p:nvPr>
        </p:nvSpPr>
        <p:spPr/>
        <p:txBody>
          <a:bodyPr/>
          <a:lstStyle/>
          <a:p>
            <a:r>
              <a:rPr lang="es-419" dirty="0"/>
              <a:t>Curso gratuito</a:t>
            </a:r>
            <a:endParaRPr lang="en-US" dirty="0"/>
          </a:p>
        </p:txBody>
      </p:sp>
      <p:sp>
        <p:nvSpPr>
          <p:cNvPr id="3" name="Content Placeholder 2">
            <a:extLst>
              <a:ext uri="{FF2B5EF4-FFF2-40B4-BE49-F238E27FC236}">
                <a16:creationId xmlns:a16="http://schemas.microsoft.com/office/drawing/2014/main" id="{AC3EB5E1-0FB8-409C-A29C-2F3195DFA01B}"/>
              </a:ext>
            </a:extLst>
          </p:cNvPr>
          <p:cNvSpPr>
            <a:spLocks noGrp="1"/>
          </p:cNvSpPr>
          <p:nvPr>
            <p:ph idx="1"/>
          </p:nvPr>
        </p:nvSpPr>
        <p:spPr/>
        <p:txBody>
          <a:bodyPr/>
          <a:lstStyle/>
          <a:p>
            <a:pPr marL="0" indent="0">
              <a:buNone/>
            </a:pPr>
            <a:r>
              <a:rPr lang="en-US" dirty="0"/>
              <a:t>https://www.redhat.com/en/services/training/do080-deploying-containerized-applications-technical-overview</a:t>
            </a:r>
          </a:p>
        </p:txBody>
      </p:sp>
    </p:spTree>
    <p:extLst>
      <p:ext uri="{BB962C8B-B14F-4D97-AF65-F5344CB8AC3E}">
        <p14:creationId xmlns:p14="http://schemas.microsoft.com/office/powerpoint/2010/main" val="36115919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0F2DA-2B31-46AA-88C6-EAE895DF989B}"/>
              </a:ext>
            </a:extLst>
          </p:cNvPr>
          <p:cNvSpPr>
            <a:spLocks noGrp="1"/>
          </p:cNvSpPr>
          <p:nvPr>
            <p:ph type="title"/>
          </p:nvPr>
        </p:nvSpPr>
        <p:spPr/>
        <p:txBody>
          <a:bodyPr/>
          <a:lstStyle/>
          <a:p>
            <a:r>
              <a:rPr lang="es-419" dirty="0"/>
              <a:t>Ejercicios</a:t>
            </a:r>
            <a:endParaRPr lang="en-US" dirty="0"/>
          </a:p>
        </p:txBody>
      </p:sp>
      <p:sp>
        <p:nvSpPr>
          <p:cNvPr id="3" name="Content Placeholder 2">
            <a:extLst>
              <a:ext uri="{FF2B5EF4-FFF2-40B4-BE49-F238E27FC236}">
                <a16:creationId xmlns:a16="http://schemas.microsoft.com/office/drawing/2014/main" id="{182DF8F7-8036-4BE9-8153-B7C381508F9C}"/>
              </a:ext>
            </a:extLst>
          </p:cNvPr>
          <p:cNvSpPr>
            <a:spLocks noGrp="1"/>
          </p:cNvSpPr>
          <p:nvPr>
            <p:ph idx="1"/>
          </p:nvPr>
        </p:nvSpPr>
        <p:spPr/>
        <p:txBody>
          <a:bodyPr/>
          <a:lstStyle/>
          <a:p>
            <a:r>
              <a:rPr lang="es-419" dirty="0" err="1"/>
              <a:t>Rocket.Chat</a:t>
            </a:r>
            <a:r>
              <a:rPr lang="es-419" dirty="0"/>
              <a:t> </a:t>
            </a:r>
            <a:r>
              <a:rPr lang="es-419" dirty="0" err="1"/>
              <a:t>Lab</a:t>
            </a:r>
            <a:endParaRPr lang="en-US" dirty="0"/>
          </a:p>
        </p:txBody>
      </p:sp>
    </p:spTree>
    <p:extLst>
      <p:ext uri="{BB962C8B-B14F-4D97-AF65-F5344CB8AC3E}">
        <p14:creationId xmlns:p14="http://schemas.microsoft.com/office/powerpoint/2010/main" val="147130336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09785-19FE-49A0-84F9-DBF985A01670}"/>
              </a:ext>
            </a:extLst>
          </p:cNvPr>
          <p:cNvSpPr>
            <a:spLocks noGrp="1"/>
          </p:cNvSpPr>
          <p:nvPr>
            <p:ph type="title"/>
          </p:nvPr>
        </p:nvSpPr>
        <p:spPr/>
        <p:txBody>
          <a:bodyPr/>
          <a:lstStyle/>
          <a:p>
            <a:r>
              <a:rPr lang="es-419" dirty="0"/>
              <a:t>Repaso</a:t>
            </a:r>
            <a:endParaRPr lang="en-US" dirty="0"/>
          </a:p>
        </p:txBody>
      </p:sp>
      <p:sp>
        <p:nvSpPr>
          <p:cNvPr id="3" name="Content Placeholder 2">
            <a:extLst>
              <a:ext uri="{FF2B5EF4-FFF2-40B4-BE49-F238E27FC236}">
                <a16:creationId xmlns:a16="http://schemas.microsoft.com/office/drawing/2014/main" id="{DCC4D065-C3D9-4C05-8678-6C3ADB0D98B0}"/>
              </a:ext>
            </a:extLst>
          </p:cNvPr>
          <p:cNvSpPr>
            <a:spLocks noGrp="1"/>
          </p:cNvSpPr>
          <p:nvPr>
            <p:ph idx="1"/>
          </p:nvPr>
        </p:nvSpPr>
        <p:spPr/>
        <p:txBody>
          <a:bodyPr/>
          <a:lstStyle/>
          <a:p>
            <a:r>
              <a:rPr lang="es-419" dirty="0"/>
              <a:t>Despliegue de aplicaciones:</a:t>
            </a:r>
          </a:p>
          <a:p>
            <a:pPr lvl="1"/>
            <a:r>
              <a:rPr lang="es-419" dirty="0"/>
              <a:t>Imagen</a:t>
            </a:r>
          </a:p>
          <a:p>
            <a:pPr lvl="1"/>
            <a:r>
              <a:rPr lang="es-419" dirty="0"/>
              <a:t>S2I</a:t>
            </a:r>
          </a:p>
          <a:p>
            <a:pPr lvl="1"/>
            <a:r>
              <a:rPr lang="es-419" dirty="0" err="1"/>
              <a:t>Dockerfile</a:t>
            </a:r>
            <a:endParaRPr lang="es-419" dirty="0"/>
          </a:p>
          <a:p>
            <a:pPr lvl="1"/>
            <a:r>
              <a:rPr lang="es-419" dirty="0" err="1"/>
              <a:t>Template</a:t>
            </a:r>
            <a:endParaRPr lang="en-US" dirty="0"/>
          </a:p>
        </p:txBody>
      </p:sp>
    </p:spTree>
    <p:extLst>
      <p:ext uri="{BB962C8B-B14F-4D97-AF65-F5344CB8AC3E}">
        <p14:creationId xmlns:p14="http://schemas.microsoft.com/office/powerpoint/2010/main" val="258249485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E81DA-6DF3-4391-9023-F491D7966EB9}"/>
              </a:ext>
            </a:extLst>
          </p:cNvPr>
          <p:cNvSpPr>
            <a:spLocks noGrp="1"/>
          </p:cNvSpPr>
          <p:nvPr>
            <p:ph type="title"/>
          </p:nvPr>
        </p:nvSpPr>
        <p:spPr/>
        <p:txBody>
          <a:bodyPr/>
          <a:lstStyle/>
          <a:p>
            <a:r>
              <a:rPr lang="es-419" dirty="0"/>
              <a:t>Creando aplicaciones desde imagen</a:t>
            </a:r>
            <a:endParaRPr lang="en-US" dirty="0"/>
          </a:p>
        </p:txBody>
      </p:sp>
      <p:pic>
        <p:nvPicPr>
          <p:cNvPr id="4" name="Picture 3">
            <a:extLst>
              <a:ext uri="{FF2B5EF4-FFF2-40B4-BE49-F238E27FC236}">
                <a16:creationId xmlns:a16="http://schemas.microsoft.com/office/drawing/2014/main" id="{54F74D28-1599-4432-BCE8-E64633FCBE74}"/>
              </a:ext>
            </a:extLst>
          </p:cNvPr>
          <p:cNvPicPr>
            <a:picLocks noChangeAspect="1"/>
          </p:cNvPicPr>
          <p:nvPr/>
        </p:nvPicPr>
        <p:blipFill>
          <a:blip r:embed="rId3"/>
          <a:stretch>
            <a:fillRect/>
          </a:stretch>
        </p:blipFill>
        <p:spPr>
          <a:xfrm>
            <a:off x="2065079" y="1690688"/>
            <a:ext cx="7853362" cy="4551719"/>
          </a:xfrm>
          <a:prstGeom prst="rect">
            <a:avLst/>
          </a:prstGeom>
        </p:spPr>
      </p:pic>
    </p:spTree>
    <p:extLst>
      <p:ext uri="{BB962C8B-B14F-4D97-AF65-F5344CB8AC3E}">
        <p14:creationId xmlns:p14="http://schemas.microsoft.com/office/powerpoint/2010/main" val="365591353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5FC618-8D03-46FD-B677-6D4615848911}"/>
              </a:ext>
            </a:extLst>
          </p:cNvPr>
          <p:cNvSpPr>
            <a:spLocks noGrp="1"/>
          </p:cNvSpPr>
          <p:nvPr>
            <p:ph type="title"/>
          </p:nvPr>
        </p:nvSpPr>
        <p:spPr/>
        <p:txBody>
          <a:bodyPr/>
          <a:lstStyle/>
          <a:p>
            <a:r>
              <a:rPr lang="es-419" dirty="0"/>
              <a:t>El proceso </a:t>
            </a:r>
            <a:r>
              <a:rPr lang="es-419" dirty="0" err="1"/>
              <a:t>Souce-to-Image</a:t>
            </a:r>
            <a:r>
              <a:rPr lang="es-419" dirty="0"/>
              <a:t>(S2I)</a:t>
            </a:r>
            <a:endParaRPr lang="en-US" dirty="0"/>
          </a:p>
        </p:txBody>
      </p:sp>
      <p:pic>
        <p:nvPicPr>
          <p:cNvPr id="4" name="Picture 3">
            <a:extLst>
              <a:ext uri="{FF2B5EF4-FFF2-40B4-BE49-F238E27FC236}">
                <a16:creationId xmlns:a16="http://schemas.microsoft.com/office/drawing/2014/main" id="{6194E571-8A4E-47A3-A7F5-5950409E3FE0}"/>
              </a:ext>
            </a:extLst>
          </p:cNvPr>
          <p:cNvPicPr>
            <a:picLocks noChangeAspect="1"/>
          </p:cNvPicPr>
          <p:nvPr/>
        </p:nvPicPr>
        <p:blipFill>
          <a:blip r:embed="rId3"/>
          <a:stretch>
            <a:fillRect/>
          </a:stretch>
        </p:blipFill>
        <p:spPr>
          <a:xfrm>
            <a:off x="3148850" y="1690688"/>
            <a:ext cx="5894299" cy="4218903"/>
          </a:xfrm>
          <a:prstGeom prst="rect">
            <a:avLst/>
          </a:prstGeom>
        </p:spPr>
      </p:pic>
    </p:spTree>
    <p:extLst>
      <p:ext uri="{BB962C8B-B14F-4D97-AF65-F5344CB8AC3E}">
        <p14:creationId xmlns:p14="http://schemas.microsoft.com/office/powerpoint/2010/main" val="426774492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0B7E4-099A-4E42-8780-A9D7F5BD0A01}"/>
              </a:ext>
            </a:extLst>
          </p:cNvPr>
          <p:cNvSpPr>
            <a:spLocks noGrp="1"/>
          </p:cNvSpPr>
          <p:nvPr>
            <p:ph type="title"/>
          </p:nvPr>
        </p:nvSpPr>
        <p:spPr/>
        <p:txBody>
          <a:bodyPr/>
          <a:lstStyle/>
          <a:p>
            <a:r>
              <a:rPr lang="es-419" dirty="0" err="1"/>
              <a:t>Templates</a:t>
            </a:r>
            <a:endParaRPr lang="en-US" dirty="0"/>
          </a:p>
        </p:txBody>
      </p:sp>
      <p:sp>
        <p:nvSpPr>
          <p:cNvPr id="3" name="Content Placeholder 2">
            <a:extLst>
              <a:ext uri="{FF2B5EF4-FFF2-40B4-BE49-F238E27FC236}">
                <a16:creationId xmlns:a16="http://schemas.microsoft.com/office/drawing/2014/main" id="{190B9255-F8C9-4201-8A35-0E03D1DE1C1B}"/>
              </a:ext>
            </a:extLst>
          </p:cNvPr>
          <p:cNvSpPr>
            <a:spLocks noGrp="1"/>
          </p:cNvSpPr>
          <p:nvPr>
            <p:ph idx="1"/>
          </p:nvPr>
        </p:nvSpPr>
        <p:spPr/>
        <p:txBody>
          <a:bodyPr/>
          <a:lstStyle/>
          <a:p>
            <a:r>
              <a:rPr lang="es-419" dirty="0"/>
              <a:t>Listar todos los </a:t>
            </a:r>
            <a:r>
              <a:rPr lang="es-419" dirty="0" err="1"/>
              <a:t>templates</a:t>
            </a:r>
            <a:r>
              <a:rPr lang="es-419" dirty="0"/>
              <a:t> por defecto</a:t>
            </a:r>
          </a:p>
          <a:p>
            <a:endParaRPr lang="es-419" dirty="0"/>
          </a:p>
          <a:p>
            <a:pPr marL="0" indent="0">
              <a:buNone/>
            </a:pPr>
            <a:r>
              <a:rPr lang="es-419" dirty="0"/>
              <a:t>$</a:t>
            </a:r>
            <a:r>
              <a:rPr lang="es-419" dirty="0" err="1"/>
              <a:t>oc</a:t>
            </a:r>
            <a:r>
              <a:rPr lang="es-419" dirty="0"/>
              <a:t> </a:t>
            </a:r>
            <a:r>
              <a:rPr lang="es-419" dirty="0" err="1"/>
              <a:t>get</a:t>
            </a:r>
            <a:r>
              <a:rPr lang="es-419" dirty="0"/>
              <a:t> </a:t>
            </a:r>
            <a:r>
              <a:rPr lang="es-419" dirty="0" err="1"/>
              <a:t>templates</a:t>
            </a:r>
            <a:r>
              <a:rPr lang="es-419" dirty="0"/>
              <a:t> –n </a:t>
            </a:r>
            <a:r>
              <a:rPr lang="es-419" dirty="0" err="1"/>
              <a:t>openshift</a:t>
            </a:r>
            <a:endParaRPr lang="es-419" dirty="0"/>
          </a:p>
          <a:p>
            <a:pPr marL="0" indent="0">
              <a:buNone/>
            </a:pPr>
            <a:endParaRPr lang="es-419" dirty="0"/>
          </a:p>
          <a:p>
            <a:r>
              <a:rPr lang="en-US" dirty="0"/>
              <a:t>Ver los templates </a:t>
            </a:r>
            <a:r>
              <a:rPr lang="en-US" dirty="0" err="1"/>
              <a:t>desde</a:t>
            </a:r>
            <a:r>
              <a:rPr lang="en-US" dirty="0"/>
              <a:t> la </a:t>
            </a:r>
            <a:r>
              <a:rPr lang="en-US" dirty="0" err="1"/>
              <a:t>consola</a:t>
            </a:r>
            <a:r>
              <a:rPr lang="en-US" dirty="0"/>
              <a:t> – Developer Catalog</a:t>
            </a:r>
          </a:p>
          <a:p>
            <a:pPr marL="0" indent="0">
              <a:buNone/>
            </a:pPr>
            <a:endParaRPr lang="en-US" dirty="0"/>
          </a:p>
          <a:p>
            <a:pPr marL="0" indent="0">
              <a:buNone/>
            </a:pPr>
            <a:endParaRPr lang="en-US" dirty="0"/>
          </a:p>
          <a:p>
            <a:endParaRPr lang="en-US" dirty="0"/>
          </a:p>
          <a:p>
            <a:endParaRPr lang="es-419" dirty="0"/>
          </a:p>
        </p:txBody>
      </p:sp>
      <p:pic>
        <p:nvPicPr>
          <p:cNvPr id="5" name="Picture 4">
            <a:extLst>
              <a:ext uri="{FF2B5EF4-FFF2-40B4-BE49-F238E27FC236}">
                <a16:creationId xmlns:a16="http://schemas.microsoft.com/office/drawing/2014/main" id="{BF46F1E3-8841-4218-AB66-508AFADEFB19}"/>
              </a:ext>
            </a:extLst>
          </p:cNvPr>
          <p:cNvPicPr>
            <a:picLocks noChangeAspect="1"/>
          </p:cNvPicPr>
          <p:nvPr/>
        </p:nvPicPr>
        <p:blipFill>
          <a:blip r:embed="rId3"/>
          <a:stretch>
            <a:fillRect/>
          </a:stretch>
        </p:blipFill>
        <p:spPr>
          <a:xfrm>
            <a:off x="3157537" y="4368800"/>
            <a:ext cx="2219325" cy="1943100"/>
          </a:xfrm>
          <a:prstGeom prst="rect">
            <a:avLst/>
          </a:prstGeom>
        </p:spPr>
      </p:pic>
    </p:spTree>
    <p:extLst>
      <p:ext uri="{BB962C8B-B14F-4D97-AF65-F5344CB8AC3E}">
        <p14:creationId xmlns:p14="http://schemas.microsoft.com/office/powerpoint/2010/main" val="38651071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94F3AA-1436-44E3-A658-AD617B5D2FD1}"/>
              </a:ext>
            </a:extLst>
          </p:cNvPr>
          <p:cNvSpPr>
            <a:spLocks noGrp="1"/>
          </p:cNvSpPr>
          <p:nvPr>
            <p:ph type="title"/>
          </p:nvPr>
        </p:nvSpPr>
        <p:spPr/>
        <p:txBody>
          <a:bodyPr/>
          <a:lstStyle/>
          <a:p>
            <a:r>
              <a:rPr lang="es-419" dirty="0" err="1"/>
              <a:t>Kubernetes</a:t>
            </a:r>
            <a:r>
              <a:rPr lang="es-419" dirty="0"/>
              <a:t> </a:t>
            </a:r>
            <a:r>
              <a:rPr lang="es-419" dirty="0" err="1"/>
              <a:t>Resource</a:t>
            </a:r>
            <a:r>
              <a:rPr lang="es-419" dirty="0"/>
              <a:t> </a:t>
            </a:r>
            <a:r>
              <a:rPr lang="es-419" dirty="0" err="1"/>
              <a:t>Types</a:t>
            </a:r>
            <a:r>
              <a:rPr lang="es-419" dirty="0"/>
              <a:t> (</a:t>
            </a:r>
            <a:r>
              <a:rPr lang="es-419" dirty="0" err="1"/>
              <a:t>Review</a:t>
            </a:r>
            <a:r>
              <a:rPr lang="es-419" dirty="0"/>
              <a:t>)</a:t>
            </a:r>
            <a:endParaRPr lang="en-US" dirty="0"/>
          </a:p>
        </p:txBody>
      </p:sp>
      <p:sp>
        <p:nvSpPr>
          <p:cNvPr id="3" name="Content Placeholder 2">
            <a:extLst>
              <a:ext uri="{FF2B5EF4-FFF2-40B4-BE49-F238E27FC236}">
                <a16:creationId xmlns:a16="http://schemas.microsoft.com/office/drawing/2014/main" id="{CB8F7B4B-ADA4-4118-A11B-5E3E28CFB049}"/>
              </a:ext>
            </a:extLst>
          </p:cNvPr>
          <p:cNvSpPr>
            <a:spLocks noGrp="1"/>
          </p:cNvSpPr>
          <p:nvPr>
            <p:ph idx="1"/>
          </p:nvPr>
        </p:nvSpPr>
        <p:spPr/>
        <p:txBody>
          <a:bodyPr/>
          <a:lstStyle/>
          <a:p>
            <a:r>
              <a:rPr lang="es-419" dirty="0" err="1"/>
              <a:t>Pods</a:t>
            </a:r>
            <a:r>
              <a:rPr lang="es-419" dirty="0"/>
              <a:t> (</a:t>
            </a:r>
            <a:r>
              <a:rPr lang="es-419" dirty="0" err="1"/>
              <a:t>po</a:t>
            </a:r>
            <a:r>
              <a:rPr lang="es-419" dirty="0"/>
              <a:t>)</a:t>
            </a:r>
          </a:p>
          <a:p>
            <a:r>
              <a:rPr lang="es-419" dirty="0" err="1"/>
              <a:t>Services</a:t>
            </a:r>
            <a:r>
              <a:rPr lang="es-419" dirty="0"/>
              <a:t> (</a:t>
            </a:r>
            <a:r>
              <a:rPr lang="es-419" dirty="0" err="1"/>
              <a:t>svc</a:t>
            </a:r>
            <a:r>
              <a:rPr lang="es-419" dirty="0"/>
              <a:t>)</a:t>
            </a:r>
          </a:p>
          <a:p>
            <a:r>
              <a:rPr lang="es-419" dirty="0" err="1"/>
              <a:t>Replication</a:t>
            </a:r>
            <a:r>
              <a:rPr lang="es-419" dirty="0"/>
              <a:t> </a:t>
            </a:r>
            <a:r>
              <a:rPr lang="es-419" dirty="0" err="1"/>
              <a:t>Controllers</a:t>
            </a:r>
            <a:r>
              <a:rPr lang="es-419" dirty="0"/>
              <a:t> (</a:t>
            </a:r>
            <a:r>
              <a:rPr lang="es-419" dirty="0" err="1"/>
              <a:t>rc</a:t>
            </a:r>
            <a:r>
              <a:rPr lang="es-419" dirty="0"/>
              <a:t>)</a:t>
            </a:r>
          </a:p>
          <a:p>
            <a:r>
              <a:rPr lang="es-419" dirty="0" err="1"/>
              <a:t>Persistent</a:t>
            </a:r>
            <a:r>
              <a:rPr lang="es-419" dirty="0"/>
              <a:t> </a:t>
            </a:r>
            <a:r>
              <a:rPr lang="es-419" dirty="0" err="1"/>
              <a:t>Volumes</a:t>
            </a:r>
            <a:r>
              <a:rPr lang="es-419" dirty="0"/>
              <a:t> (</a:t>
            </a:r>
            <a:r>
              <a:rPr lang="es-419" dirty="0" err="1"/>
              <a:t>pv</a:t>
            </a:r>
            <a:r>
              <a:rPr lang="es-419" dirty="0"/>
              <a:t>)</a:t>
            </a:r>
          </a:p>
          <a:p>
            <a:r>
              <a:rPr lang="es-419" dirty="0" err="1"/>
              <a:t>Persistent</a:t>
            </a:r>
            <a:r>
              <a:rPr lang="es-419" dirty="0"/>
              <a:t> Volumen </a:t>
            </a:r>
            <a:r>
              <a:rPr lang="es-419" dirty="0" err="1"/>
              <a:t>Claims</a:t>
            </a:r>
            <a:r>
              <a:rPr lang="es-419" dirty="0"/>
              <a:t> (</a:t>
            </a:r>
            <a:r>
              <a:rPr lang="es-419" dirty="0" err="1"/>
              <a:t>pvc</a:t>
            </a:r>
            <a:r>
              <a:rPr lang="es-419" dirty="0"/>
              <a:t>)</a:t>
            </a:r>
          </a:p>
          <a:p>
            <a:r>
              <a:rPr lang="es-419" dirty="0" err="1"/>
              <a:t>ConfigMaps</a:t>
            </a:r>
            <a:r>
              <a:rPr lang="es-419" dirty="0"/>
              <a:t> (cm) y </a:t>
            </a:r>
            <a:r>
              <a:rPr lang="es-419" dirty="0" err="1"/>
              <a:t>Secrets</a:t>
            </a:r>
            <a:endParaRPr lang="en-US" dirty="0"/>
          </a:p>
        </p:txBody>
      </p:sp>
    </p:spTree>
    <p:extLst>
      <p:ext uri="{BB962C8B-B14F-4D97-AF65-F5344CB8AC3E}">
        <p14:creationId xmlns:p14="http://schemas.microsoft.com/office/powerpoint/2010/main" val="33747303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45CCA5-C123-41B7-BC40-A975E15BEA57}"/>
              </a:ext>
            </a:extLst>
          </p:cNvPr>
          <p:cNvSpPr>
            <a:spLocks noGrp="1"/>
          </p:cNvSpPr>
          <p:nvPr>
            <p:ph type="title"/>
          </p:nvPr>
        </p:nvSpPr>
        <p:spPr/>
        <p:txBody>
          <a:bodyPr/>
          <a:lstStyle/>
          <a:p>
            <a:r>
              <a:rPr lang="es-419" dirty="0" err="1"/>
              <a:t>OpenShift</a:t>
            </a:r>
            <a:r>
              <a:rPr lang="es-419" dirty="0"/>
              <a:t> </a:t>
            </a:r>
            <a:r>
              <a:rPr lang="es-419" dirty="0" err="1"/>
              <a:t>Resource</a:t>
            </a:r>
            <a:r>
              <a:rPr lang="es-419" dirty="0"/>
              <a:t> </a:t>
            </a:r>
            <a:r>
              <a:rPr lang="es-419" dirty="0" err="1"/>
              <a:t>Types</a:t>
            </a:r>
            <a:r>
              <a:rPr lang="es-419" dirty="0"/>
              <a:t> (</a:t>
            </a:r>
            <a:r>
              <a:rPr lang="es-419" dirty="0" err="1"/>
              <a:t>Review</a:t>
            </a:r>
            <a:r>
              <a:rPr lang="es-419" dirty="0"/>
              <a:t>)</a:t>
            </a:r>
            <a:endParaRPr lang="en-US" dirty="0"/>
          </a:p>
        </p:txBody>
      </p:sp>
      <p:sp>
        <p:nvSpPr>
          <p:cNvPr id="3" name="Content Placeholder 2">
            <a:extLst>
              <a:ext uri="{FF2B5EF4-FFF2-40B4-BE49-F238E27FC236}">
                <a16:creationId xmlns:a16="http://schemas.microsoft.com/office/drawing/2014/main" id="{8D6DFF81-A97E-4443-A0AC-6E7BED76B9FB}"/>
              </a:ext>
            </a:extLst>
          </p:cNvPr>
          <p:cNvSpPr>
            <a:spLocks noGrp="1"/>
          </p:cNvSpPr>
          <p:nvPr>
            <p:ph idx="1"/>
          </p:nvPr>
        </p:nvSpPr>
        <p:spPr/>
        <p:txBody>
          <a:bodyPr/>
          <a:lstStyle/>
          <a:p>
            <a:r>
              <a:rPr lang="es-419" dirty="0" err="1"/>
              <a:t>Deployment</a:t>
            </a:r>
            <a:r>
              <a:rPr lang="es-419" dirty="0"/>
              <a:t> </a:t>
            </a:r>
            <a:r>
              <a:rPr lang="es-419" dirty="0" err="1"/>
              <a:t>Config</a:t>
            </a:r>
            <a:r>
              <a:rPr lang="es-419" dirty="0"/>
              <a:t> (</a:t>
            </a:r>
            <a:r>
              <a:rPr lang="es-419" dirty="0" err="1"/>
              <a:t>dc</a:t>
            </a:r>
            <a:r>
              <a:rPr lang="es-419" dirty="0"/>
              <a:t>)</a:t>
            </a:r>
          </a:p>
          <a:p>
            <a:r>
              <a:rPr lang="es-419" dirty="0" err="1"/>
              <a:t>Build</a:t>
            </a:r>
            <a:r>
              <a:rPr lang="es-419" dirty="0"/>
              <a:t> </a:t>
            </a:r>
            <a:r>
              <a:rPr lang="es-419" dirty="0" err="1"/>
              <a:t>Config</a:t>
            </a:r>
            <a:r>
              <a:rPr lang="es-419" dirty="0"/>
              <a:t> (</a:t>
            </a:r>
            <a:r>
              <a:rPr lang="es-419" dirty="0" err="1"/>
              <a:t>bc</a:t>
            </a:r>
            <a:r>
              <a:rPr lang="es-419" dirty="0"/>
              <a:t>)</a:t>
            </a:r>
          </a:p>
          <a:p>
            <a:r>
              <a:rPr lang="es-419" dirty="0" err="1"/>
              <a:t>Routes</a:t>
            </a:r>
            <a:endParaRPr lang="en-US" dirty="0"/>
          </a:p>
        </p:txBody>
      </p:sp>
    </p:spTree>
    <p:extLst>
      <p:ext uri="{BB962C8B-B14F-4D97-AF65-F5344CB8AC3E}">
        <p14:creationId xmlns:p14="http://schemas.microsoft.com/office/powerpoint/2010/main" val="21916844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01990-5CB3-4D1D-90B4-9703D87667EA}"/>
              </a:ext>
            </a:extLst>
          </p:cNvPr>
          <p:cNvSpPr>
            <a:spLocks noGrp="1"/>
          </p:cNvSpPr>
          <p:nvPr>
            <p:ph type="title"/>
          </p:nvPr>
        </p:nvSpPr>
        <p:spPr/>
        <p:txBody>
          <a:bodyPr/>
          <a:lstStyle/>
          <a:p>
            <a:r>
              <a:rPr lang="es-419" dirty="0" err="1"/>
              <a:t>Feedback</a:t>
            </a:r>
            <a:endParaRPr lang="en-US" dirty="0"/>
          </a:p>
        </p:txBody>
      </p:sp>
      <p:sp>
        <p:nvSpPr>
          <p:cNvPr id="3" name="Content Placeholder 2">
            <a:extLst>
              <a:ext uri="{FF2B5EF4-FFF2-40B4-BE49-F238E27FC236}">
                <a16:creationId xmlns:a16="http://schemas.microsoft.com/office/drawing/2014/main" id="{AF8F84AA-76CC-4F01-8AFE-6683DCAE10D1}"/>
              </a:ext>
            </a:extLst>
          </p:cNvPr>
          <p:cNvSpPr>
            <a:spLocks noGrp="1"/>
          </p:cNvSpPr>
          <p:nvPr>
            <p:ph idx="1"/>
          </p:nvPr>
        </p:nvSpPr>
        <p:spPr/>
        <p:txBody>
          <a:bodyPr/>
          <a:lstStyle/>
          <a:p>
            <a:pPr marL="0" indent="0">
              <a:buNone/>
            </a:pPr>
            <a:r>
              <a:rPr lang="en-US" dirty="0">
                <a:hlinkClick r:id="rId2"/>
              </a:rPr>
              <a:t>https://ibm-surveys.w3ibm.mybluemix.net/survey/answer?surveyId=5eea313cae6ca6004b0775ef</a:t>
            </a:r>
            <a:endParaRPr lang="en-US" dirty="0"/>
          </a:p>
        </p:txBody>
      </p:sp>
    </p:spTree>
    <p:extLst>
      <p:ext uri="{BB962C8B-B14F-4D97-AF65-F5344CB8AC3E}">
        <p14:creationId xmlns:p14="http://schemas.microsoft.com/office/powerpoint/2010/main" val="9609053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8538</TotalTime>
  <Words>1777</Words>
  <Application>Microsoft Office PowerPoint</Application>
  <PresentationFormat>Widescreen</PresentationFormat>
  <Paragraphs>413</Paragraphs>
  <Slides>63</Slides>
  <Notes>34</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63</vt:i4>
      </vt:variant>
    </vt:vector>
  </HeadingPairs>
  <TitlesOfParts>
    <vt:vector size="67" baseType="lpstr">
      <vt:lpstr>Arial</vt:lpstr>
      <vt:lpstr>Calibri</vt:lpstr>
      <vt:lpstr>Calibri Light</vt:lpstr>
      <vt:lpstr>Office Theme</vt:lpstr>
      <vt:lpstr>OpenShift Essentials</vt:lpstr>
      <vt:lpstr>Red Hat OpenShift product family</vt:lpstr>
      <vt:lpstr>PowerPoint Presentation</vt:lpstr>
      <vt:lpstr>PowerPoint Presentation</vt:lpstr>
      <vt:lpstr>Características de OpenShift</vt:lpstr>
      <vt:lpstr>OpenShift Container Platform Stack</vt:lpstr>
      <vt:lpstr>PowerPoint Presentation</vt:lpstr>
      <vt:lpstr>Operators</vt:lpstr>
      <vt:lpstr>The Operator Framework</vt:lpstr>
      <vt:lpstr>Nuevas Caracteristicas en RHOCP 4</vt:lpstr>
      <vt:lpstr>Instalación</vt:lpstr>
      <vt:lpstr>Soporte para IPI</vt:lpstr>
      <vt:lpstr>Soporte para UPI</vt:lpstr>
      <vt:lpstr>PowerPoint Presentation</vt:lpstr>
      <vt:lpstr>Kubernetes Resource Types</vt:lpstr>
      <vt:lpstr>OpenShift Resource Types</vt:lpstr>
      <vt:lpstr>Laboratorios</vt:lpstr>
      <vt:lpstr>Ejercicio - Creando recursos de Kubernetes </vt:lpstr>
      <vt:lpstr>Ejercicios (continuación)</vt:lpstr>
      <vt:lpstr>Ejercicio – Creando servicio</vt:lpstr>
      <vt:lpstr>PowerPoint Presentation</vt:lpstr>
      <vt:lpstr>Práctica</vt:lpstr>
      <vt:lpstr>OpenShift Resource Command Line</vt:lpstr>
      <vt:lpstr>Creando Aplicaciones</vt:lpstr>
      <vt:lpstr>new-app</vt:lpstr>
      <vt:lpstr>Creando aplicaciones desde imagen</vt:lpstr>
      <vt:lpstr>Ejercicio (Despliegue desde imagen)</vt:lpstr>
      <vt:lpstr>Ejercicio (continuación)</vt:lpstr>
      <vt:lpstr>Ejercicio (continuación)</vt:lpstr>
      <vt:lpstr>Práctica</vt:lpstr>
      <vt:lpstr>El proceso Souce-to-Image(S2I)</vt:lpstr>
      <vt:lpstr>Detección de lenguaje</vt:lpstr>
      <vt:lpstr>Ejercicio (Despliegue desde código fuente)</vt:lpstr>
      <vt:lpstr>Ejercicio  (continuación)</vt:lpstr>
      <vt:lpstr>Ejercicio (continuación)</vt:lpstr>
      <vt:lpstr>Ejercicio (continuación)</vt:lpstr>
      <vt:lpstr>Práctica</vt:lpstr>
      <vt:lpstr>Relación entre Build y Deployment Configurations</vt:lpstr>
      <vt:lpstr>Review</vt:lpstr>
      <vt:lpstr>PowerPoint Presentation</vt:lpstr>
      <vt:lpstr>Red Hat OpenShift product family</vt:lpstr>
      <vt:lpstr>Instalación</vt:lpstr>
      <vt:lpstr>Ejercicio (Despliegue desde Dockerfile)</vt:lpstr>
      <vt:lpstr>Ejercicio (continuación)</vt:lpstr>
      <vt:lpstr>Image Streams</vt:lpstr>
      <vt:lpstr>El proceso Souce-to-Image(S2I)</vt:lpstr>
      <vt:lpstr>Demo</vt:lpstr>
      <vt:lpstr>Ejercicio</vt:lpstr>
      <vt:lpstr>Ejercicio (continuación)</vt:lpstr>
      <vt:lpstr>Práctica</vt:lpstr>
      <vt:lpstr>Ejercicio</vt:lpstr>
      <vt:lpstr>Ejercicio (continuación)</vt:lpstr>
      <vt:lpstr>Blue/Green Deployments</vt:lpstr>
      <vt:lpstr>Ejercicios</vt:lpstr>
      <vt:lpstr>Curso gratuito</vt:lpstr>
      <vt:lpstr>Ejercicios</vt:lpstr>
      <vt:lpstr>Repaso</vt:lpstr>
      <vt:lpstr>Creando aplicaciones desde imagen</vt:lpstr>
      <vt:lpstr>El proceso Souce-to-Image(S2I)</vt:lpstr>
      <vt:lpstr>Templates</vt:lpstr>
      <vt:lpstr>Kubernetes Resource Types (Review)</vt:lpstr>
      <vt:lpstr>OpenShift Resource Types (Review)</vt:lpstr>
      <vt:lpstr>Feedback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Openshift Essentials</dc:title>
  <dc:creator>Jhonny Yamaniha Ytokazu</dc:creator>
  <cp:lastModifiedBy>Jhonny Yamaniha Ytokazu</cp:lastModifiedBy>
  <cp:revision>187</cp:revision>
  <dcterms:created xsi:type="dcterms:W3CDTF">2020-06-11T04:38:22Z</dcterms:created>
  <dcterms:modified xsi:type="dcterms:W3CDTF">2020-06-17T21:00:28Z</dcterms:modified>
</cp:coreProperties>
</file>